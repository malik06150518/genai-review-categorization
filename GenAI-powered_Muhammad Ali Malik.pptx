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 id="2147483680" r:id="rId2"/>
    <p:sldMasterId id="2147483681" r:id="rId3"/>
  </p:sldMasterIdLst>
  <p:notesMasterIdLst>
    <p:notesMasterId r:id="rId21"/>
  </p:notesMasterIdLst>
  <p:sldIdLst>
    <p:sldId id="256" r:id="rId4"/>
    <p:sldId id="257" r:id="rId5"/>
    <p:sldId id="258" r:id="rId6"/>
    <p:sldId id="259" r:id="rId7"/>
    <p:sldId id="271" r:id="rId8"/>
    <p:sldId id="267" r:id="rId9"/>
    <p:sldId id="272" r:id="rId10"/>
    <p:sldId id="268" r:id="rId11"/>
    <p:sldId id="269" r:id="rId12"/>
    <p:sldId id="270" r:id="rId13"/>
    <p:sldId id="273" r:id="rId14"/>
    <p:sldId id="261" r:id="rId15"/>
    <p:sldId id="262" r:id="rId16"/>
    <p:sldId id="263" r:id="rId17"/>
    <p:sldId id="264" r:id="rId18"/>
    <p:sldId id="265" r:id="rId19"/>
    <p:sldId id="266" r:id="rId20"/>
  </p:sldIdLst>
  <p:sldSz cx="9144000" cy="5143500" type="screen16x9"/>
  <p:notesSz cx="6858000" cy="9144000"/>
  <p:embeddedFontLst>
    <p:embeddedFont>
      <p:font typeface="Century Gothic" panose="020B0502020202020204" pitchFamily="34" charset="0"/>
      <p:regular r:id="rId22"/>
      <p:bold r:id="rId23"/>
      <p:italic r:id="rId24"/>
      <p:boldItalic r:id="rId25"/>
    </p:embeddedFont>
    <p:embeddedFont>
      <p:font typeface="Nunito" pitchFamily="2" charset="77"/>
      <p:regular r:id="rId26"/>
      <p:bold r:id="rId27"/>
      <p:italic r:id="rId28"/>
      <p:boldItalic r:id="rId29"/>
    </p:embeddedFont>
    <p:embeddedFont>
      <p:font typeface="Nunito ExtraBold" pitchFamily="2" charset="77"/>
      <p:bold r:id="rId30"/>
      <p:boldItalic r:id="rId31"/>
    </p:embeddedFont>
    <p:embeddedFont>
      <p:font typeface="Nunito SemiBold" pitchFamily="2" charset="77"/>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CC1095-FEA2-4AFC-BACE-85E324112692}">
  <a:tblStyle styleId="{51CC1095-FEA2-4AFC-BACE-85E324112692}"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6000"/>
  </p:normalViewPr>
  <p:slideViewPr>
    <p:cSldViewPr snapToGrid="0">
      <p:cViewPr varScale="1">
        <p:scale>
          <a:sx n="150" d="100"/>
          <a:sy n="150" d="100"/>
        </p:scale>
        <p:origin x="624" y="1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39" Type="http://schemas.openxmlformats.org/officeDocument/2006/relationships/tableStyles" Target="tableStyles.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0.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5.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d30dbf4aa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2cd30dbf4aa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cd30dbf4aa_0_2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2cd30dbf4aa_0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cd30dbf4aa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2cd30dbf4aa_0_2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cd30dbf4aa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2cd30dbf4aa_0_2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cd30dbf4aa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2cd30dbf4aa_0_2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37017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cd30dbf4aa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2cd30dbf4aa_0_2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404070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cd30dbf4aa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2cd30dbf4aa_0_2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40277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cd30dbf4aa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2cd30dbf4aa_0_2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970054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cd30dbf4aa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2cd30dbf4aa_0_2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76633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cd30dbf4aa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2cd30dbf4aa_0_2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357221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cd30dbf4aa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2cd30dbf4aa_0_2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92388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cd30dbf4aa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2cd30dbf4aa_0_2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cd30dbf4aa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2cd30dbf4aa_0_2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cd30dbf4aa_0_2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2cd30dbf4aa_0_2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cd30dbf4aa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2cd30dbf4aa_0_2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cd30dbf4aa_0_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2cd30dbf4aa_0_2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cd30dbf4aa_0_3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10" name="Google Shape;210;g2cd30dbf4aa_0_3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2cd30dbf4aa_0_3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17</a:t>
            </a:fld>
            <a:endParaRPr sz="1200" b="0" i="0" u="none" strike="noStrike" cap="none" dirty="0">
              <a:solidFill>
                <a:schemeClr val="dk1"/>
              </a:solidFill>
              <a:latin typeface="Calibri"/>
              <a:ea typeface="Calibri"/>
              <a:cs typeface="Calibri"/>
              <a:sym typeface="Calibri"/>
            </a:endParaRPr>
          </a:p>
        </p:txBody>
      </p:sp>
      <p:sp>
        <p:nvSpPr>
          <p:cNvPr id="212" name="Google Shape;212;g2cd30dbf4aa_0_303: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dirty="0">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1" name="Google Shape;61;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64" name="Google Shape;64;p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rtl="0">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rtl="0">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rtl="0">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rtl="0">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rtl="0">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rtl="0">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rtl="0">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rtl="0">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rtl="0">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5" name="Google Shape;65;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Clr>
                <a:srgbClr val="0E39A9"/>
              </a:buClr>
              <a:buSzPts val="3600"/>
              <a:buNone/>
              <a:defRPr sz="3600">
                <a:solidFill>
                  <a:srgbClr val="0E39A9"/>
                </a:solidFill>
              </a:defRPr>
            </a:lvl1pPr>
            <a:lvl2pPr lvl="1" algn="l" rtl="0">
              <a:lnSpc>
                <a:spcPct val="100000"/>
              </a:lnSpc>
              <a:spcBef>
                <a:spcPts val="0"/>
              </a:spcBef>
              <a:spcAft>
                <a:spcPts val="0"/>
              </a:spcAft>
              <a:buClr>
                <a:srgbClr val="0E39A9"/>
              </a:buClr>
              <a:buSzPts val="3600"/>
              <a:buNone/>
              <a:defRPr sz="3600">
                <a:solidFill>
                  <a:srgbClr val="0E39A9"/>
                </a:solidFill>
              </a:defRPr>
            </a:lvl2pPr>
            <a:lvl3pPr lvl="2" algn="l" rtl="0">
              <a:lnSpc>
                <a:spcPct val="100000"/>
              </a:lnSpc>
              <a:spcBef>
                <a:spcPts val="0"/>
              </a:spcBef>
              <a:spcAft>
                <a:spcPts val="0"/>
              </a:spcAft>
              <a:buClr>
                <a:srgbClr val="0E39A9"/>
              </a:buClr>
              <a:buSzPts val="3600"/>
              <a:buNone/>
              <a:defRPr sz="3600">
                <a:solidFill>
                  <a:srgbClr val="0E39A9"/>
                </a:solidFill>
              </a:defRPr>
            </a:lvl3pPr>
            <a:lvl4pPr lvl="3" algn="l" rtl="0">
              <a:lnSpc>
                <a:spcPct val="100000"/>
              </a:lnSpc>
              <a:spcBef>
                <a:spcPts val="0"/>
              </a:spcBef>
              <a:spcAft>
                <a:spcPts val="0"/>
              </a:spcAft>
              <a:buClr>
                <a:srgbClr val="0E39A9"/>
              </a:buClr>
              <a:buSzPts val="3600"/>
              <a:buNone/>
              <a:defRPr sz="3600">
                <a:solidFill>
                  <a:srgbClr val="0E39A9"/>
                </a:solidFill>
              </a:defRPr>
            </a:lvl4pPr>
            <a:lvl5pPr lvl="4" algn="l" rtl="0">
              <a:lnSpc>
                <a:spcPct val="100000"/>
              </a:lnSpc>
              <a:spcBef>
                <a:spcPts val="0"/>
              </a:spcBef>
              <a:spcAft>
                <a:spcPts val="0"/>
              </a:spcAft>
              <a:buClr>
                <a:srgbClr val="0E39A9"/>
              </a:buClr>
              <a:buSzPts val="3600"/>
              <a:buNone/>
              <a:defRPr sz="3600">
                <a:solidFill>
                  <a:srgbClr val="0E39A9"/>
                </a:solidFill>
              </a:defRPr>
            </a:lvl5pPr>
            <a:lvl6pPr lvl="5" algn="l" rtl="0">
              <a:lnSpc>
                <a:spcPct val="100000"/>
              </a:lnSpc>
              <a:spcBef>
                <a:spcPts val="0"/>
              </a:spcBef>
              <a:spcAft>
                <a:spcPts val="0"/>
              </a:spcAft>
              <a:buClr>
                <a:srgbClr val="0E39A9"/>
              </a:buClr>
              <a:buSzPts val="3600"/>
              <a:buNone/>
              <a:defRPr sz="3600">
                <a:solidFill>
                  <a:srgbClr val="0E39A9"/>
                </a:solidFill>
              </a:defRPr>
            </a:lvl6pPr>
            <a:lvl7pPr lvl="6" algn="l" rtl="0">
              <a:lnSpc>
                <a:spcPct val="100000"/>
              </a:lnSpc>
              <a:spcBef>
                <a:spcPts val="0"/>
              </a:spcBef>
              <a:spcAft>
                <a:spcPts val="0"/>
              </a:spcAft>
              <a:buClr>
                <a:srgbClr val="0E39A9"/>
              </a:buClr>
              <a:buSzPts val="3600"/>
              <a:buNone/>
              <a:defRPr sz="3600">
                <a:solidFill>
                  <a:srgbClr val="0E39A9"/>
                </a:solidFill>
              </a:defRPr>
            </a:lvl7pPr>
            <a:lvl8pPr lvl="7" algn="l" rtl="0">
              <a:lnSpc>
                <a:spcPct val="100000"/>
              </a:lnSpc>
              <a:spcBef>
                <a:spcPts val="0"/>
              </a:spcBef>
              <a:spcAft>
                <a:spcPts val="0"/>
              </a:spcAft>
              <a:buClr>
                <a:srgbClr val="0E39A9"/>
              </a:buClr>
              <a:buSzPts val="3600"/>
              <a:buNone/>
              <a:defRPr sz="3600">
                <a:solidFill>
                  <a:srgbClr val="0E39A9"/>
                </a:solidFill>
              </a:defRPr>
            </a:lvl8pPr>
            <a:lvl9pPr lvl="8" algn="l" rtl="0">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68" name="Google Shape;68;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graphicFrame>
        <p:nvGraphicFramePr>
          <p:cNvPr id="71" name="Google Shape;71;p17"/>
          <p:cNvGraphicFramePr/>
          <p:nvPr/>
        </p:nvGraphicFramePr>
        <p:xfrm>
          <a:off x="201942" y="833662"/>
          <a:ext cx="3000000" cy="3000000"/>
        </p:xfrm>
        <a:graphic>
          <a:graphicData uri="http://schemas.openxmlformats.org/drawingml/2006/table">
            <a:tbl>
              <a:tblPr firstRow="1" bandRow="1">
                <a:noFill/>
                <a:tableStyleId>{51CC1095-FEA2-4AFC-BACE-85E324112692}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latin typeface="Nunito"/>
                          <a:ea typeface="Nunito"/>
                          <a:cs typeface="Nunito"/>
                          <a:sym typeface="Nunito"/>
                        </a:rPr>
                        <a:t>Cluster</a:t>
                      </a:r>
                      <a:endParaRPr sz="1400" u="none" strike="noStrike" cap="none" dirty="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latin typeface="Nunito"/>
                          <a:ea typeface="Nunito"/>
                          <a:cs typeface="Nunito"/>
                          <a:sym typeface="Nunito"/>
                        </a:rPr>
                        <a:t>Cluster Profile </a:t>
                      </a:r>
                      <a:endParaRPr sz="14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latin typeface="Nunito"/>
                          <a:ea typeface="Nunito"/>
                          <a:cs typeface="Nunito"/>
                          <a:sym typeface="Nunito"/>
                        </a:rPr>
                        <a:t>Business Insights for Marketing Team</a:t>
                      </a:r>
                      <a:endParaRPr sz="14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1</a:t>
                      </a:r>
                      <a:endParaRPr sz="1200" u="none" strike="noStrike" cap="none" dirty="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High value customers who have many credit cards and prefer to engage online</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Engage Online – Set up priority calling in lines – Upsell and Cross sell premium products</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2</a:t>
                      </a:r>
                      <a:endParaRPr sz="1200" u="none" strike="noStrike" cap="none" dirty="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dirty="0">
                          <a:latin typeface="Nunito"/>
                          <a:ea typeface="Nunito"/>
                          <a:cs typeface="Nunito"/>
                          <a:sym typeface="Nunito"/>
                        </a:rPr>
                        <a:t>…</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3</a:t>
                      </a:r>
                      <a:endParaRPr sz="1200" u="none" strike="noStrike" cap="none" dirty="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2" name="Google Shape;72;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75" name="Google Shape;75;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76" name="Google Shape;76;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77" name="Google Shape;77;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80" name="Google Shape;80;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83" name="Google Shape;83;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6" name="Google Shape;86;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rtl="0">
              <a:lnSpc>
                <a:spcPct val="115000"/>
              </a:lnSpc>
              <a:spcBef>
                <a:spcPts val="0"/>
              </a:spcBef>
              <a:spcAft>
                <a:spcPts val="0"/>
              </a:spcAft>
              <a:buSzPts val="1500"/>
              <a:buChar char="●"/>
              <a:defRPr/>
            </a:lvl1pPr>
            <a:lvl2pPr marL="914400" lvl="1" indent="-311150" algn="l" rtl="0">
              <a:lnSpc>
                <a:spcPct val="115000"/>
              </a:lnSpc>
              <a:spcBef>
                <a:spcPts val="1600"/>
              </a:spcBef>
              <a:spcAft>
                <a:spcPts val="0"/>
              </a:spcAft>
              <a:buSzPts val="1300"/>
              <a:buChar char="○"/>
              <a:defRPr/>
            </a:lvl2pPr>
            <a:lvl3pPr marL="1371600" lvl="2" indent="-304800" algn="l" rtl="0">
              <a:lnSpc>
                <a:spcPct val="115000"/>
              </a:lnSpc>
              <a:spcBef>
                <a:spcPts val="1600"/>
              </a:spcBef>
              <a:spcAft>
                <a:spcPts val="0"/>
              </a:spcAft>
              <a:buSzPts val="1200"/>
              <a:buChar char="■"/>
              <a:defRPr/>
            </a:lvl3pPr>
            <a:lvl4pPr marL="1828800" lvl="3" indent="-298450" algn="l" rtl="0">
              <a:lnSpc>
                <a:spcPct val="115000"/>
              </a:lnSpc>
              <a:spcBef>
                <a:spcPts val="1600"/>
              </a:spcBef>
              <a:spcAft>
                <a:spcPts val="0"/>
              </a:spcAft>
              <a:buSzPts val="1100"/>
              <a:buChar char="●"/>
              <a:defRPr/>
            </a:lvl4pPr>
            <a:lvl5pPr marL="2286000" lvl="4" indent="-292100" algn="l" rtl="0">
              <a:lnSpc>
                <a:spcPct val="115000"/>
              </a:lnSpc>
              <a:spcBef>
                <a:spcPts val="1600"/>
              </a:spcBef>
              <a:spcAft>
                <a:spcPts val="0"/>
              </a:spcAft>
              <a:buSzPts val="1000"/>
              <a:buChar char="○"/>
              <a:defRPr/>
            </a:lvl5pPr>
            <a:lvl6pPr marL="2743200" lvl="5" indent="-285750" algn="l" rtl="0">
              <a:lnSpc>
                <a:spcPct val="115000"/>
              </a:lnSpc>
              <a:spcBef>
                <a:spcPts val="1600"/>
              </a:spcBef>
              <a:spcAft>
                <a:spcPts val="0"/>
              </a:spcAft>
              <a:buSzPts val="900"/>
              <a:buChar char="■"/>
              <a:defRPr/>
            </a:lvl6pPr>
            <a:lvl7pPr marL="3200400" lvl="6" indent="-279400" algn="l" rtl="0">
              <a:lnSpc>
                <a:spcPct val="115000"/>
              </a:lnSpc>
              <a:spcBef>
                <a:spcPts val="1600"/>
              </a:spcBef>
              <a:spcAft>
                <a:spcPts val="0"/>
              </a:spcAft>
              <a:buSzPts val="800"/>
              <a:buChar char="●"/>
              <a:defRPr/>
            </a:lvl7pPr>
            <a:lvl8pPr marL="3657600" lvl="7" indent="-273050" algn="l" rtl="0">
              <a:lnSpc>
                <a:spcPct val="115000"/>
              </a:lnSpc>
              <a:spcBef>
                <a:spcPts val="1600"/>
              </a:spcBef>
              <a:spcAft>
                <a:spcPts val="0"/>
              </a:spcAft>
              <a:buSzPts val="700"/>
              <a:buChar char="○"/>
              <a:defRPr/>
            </a:lvl8pPr>
            <a:lvl9pPr marL="4114800" lvl="8" indent="-266700" algn="l" rtl="0">
              <a:lnSpc>
                <a:spcPct val="115000"/>
              </a:lnSpc>
              <a:spcBef>
                <a:spcPts val="1600"/>
              </a:spcBef>
              <a:spcAft>
                <a:spcPts val="1600"/>
              </a:spcAft>
              <a:buSzPts val="600"/>
              <a:buChar char="■"/>
              <a:defRPr/>
            </a:lvl9pPr>
          </a:lstStyle>
          <a:p>
            <a:endParaRPr/>
          </a:p>
        </p:txBody>
      </p:sp>
      <p:sp>
        <p:nvSpPr>
          <p:cNvPr id="89" name="Google Shape;89;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2"/>
        <p:cNvGrpSpPr/>
        <p:nvPr/>
      </p:nvGrpSpPr>
      <p:grpSpPr>
        <a:xfrm>
          <a:off x="0" y="0"/>
          <a:ext cx="0" cy="0"/>
          <a:chOff x="0" y="0"/>
          <a:chExt cx="0" cy="0"/>
        </a:xfrm>
      </p:grpSpPr>
      <p:sp>
        <p:nvSpPr>
          <p:cNvPr id="93" name="Google Shape;93;p2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pic>
        <p:nvPicPr>
          <p:cNvPr id="94" name="Google Shape;94;p23" descr="A close up of a logo&#10;&#10;Description automatically generated"/>
          <p:cNvPicPr preferRelativeResize="0"/>
          <p:nvPr/>
        </p:nvPicPr>
        <p:blipFill rotWithShape="1">
          <a:blip r:embed="rId2">
            <a:alphaModFix/>
          </a:blip>
          <a:srcRect l="42815" t="18360" r="37295" b="19147"/>
          <a:stretch/>
        </p:blipFill>
        <p:spPr>
          <a:xfrm>
            <a:off x="6052536" y="514443"/>
            <a:ext cx="2095112" cy="3703320"/>
          </a:xfrm>
          <a:prstGeom prst="rect">
            <a:avLst/>
          </a:prstGeom>
          <a:noFill/>
          <a:ln>
            <a:noFill/>
          </a:ln>
        </p:spPr>
      </p:pic>
      <p:sp>
        <p:nvSpPr>
          <p:cNvPr id="95" name="Google Shape;95;p2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rtl="0">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6" name="Google Shape;96;p2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dirty="0">
                <a:solidFill>
                  <a:schemeClr val="lt1"/>
                </a:solidFill>
                <a:latin typeface="Nunito ExtraBold"/>
                <a:ea typeface="Nunito ExtraBold"/>
                <a:cs typeface="Nunito ExtraBold"/>
                <a:sym typeface="Nunito ExtraBold"/>
              </a:rPr>
              <a:t>Happy Learning !</a:t>
            </a:r>
            <a:endParaRPr sz="3300" b="0" i="0" u="none" strike="noStrike" cap="none" dirty="0">
              <a:solidFill>
                <a:schemeClr val="lt1"/>
              </a:solidFill>
              <a:latin typeface="Nunito ExtraBold"/>
              <a:ea typeface="Nunito ExtraBold"/>
              <a:cs typeface="Nunito ExtraBold"/>
              <a:sym typeface="Nunito ExtraBold"/>
            </a:endParaRPr>
          </a:p>
        </p:txBody>
      </p:sp>
      <p:pic>
        <p:nvPicPr>
          <p:cNvPr id="97" name="Google Shape;97;p23"/>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07"/>
        <p:cNvGrpSpPr/>
        <p:nvPr/>
      </p:nvGrpSpPr>
      <p:grpSpPr>
        <a:xfrm>
          <a:off x="0" y="0"/>
          <a:ext cx="0" cy="0"/>
          <a:chOff x="0" y="0"/>
          <a:chExt cx="0" cy="0"/>
        </a:xfrm>
      </p:grpSpPr>
      <p:sp>
        <p:nvSpPr>
          <p:cNvPr id="108" name="Google Shape;108;p25"/>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pic>
        <p:nvPicPr>
          <p:cNvPr id="109" name="Google Shape;109;p25" descr="A close up of a logo&#10;&#10;Description automatically generated"/>
          <p:cNvPicPr preferRelativeResize="0"/>
          <p:nvPr/>
        </p:nvPicPr>
        <p:blipFill rotWithShape="1">
          <a:blip r:embed="rId2">
            <a:alphaModFix/>
          </a:blip>
          <a:srcRect l="42815" t="18360" r="37295" b="19147"/>
          <a:stretch/>
        </p:blipFill>
        <p:spPr>
          <a:xfrm>
            <a:off x="6052536" y="514443"/>
            <a:ext cx="2095112" cy="3703320"/>
          </a:xfrm>
          <a:prstGeom prst="rect">
            <a:avLst/>
          </a:prstGeom>
          <a:noFill/>
          <a:ln>
            <a:noFill/>
          </a:ln>
        </p:spPr>
      </p:pic>
      <p:sp>
        <p:nvSpPr>
          <p:cNvPr id="110" name="Google Shape;110;p2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rtl="0">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11" name="Google Shape;111;p25"/>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dirty="0">
                <a:solidFill>
                  <a:schemeClr val="lt1"/>
                </a:solidFill>
                <a:latin typeface="Nunito ExtraBold"/>
                <a:ea typeface="Nunito ExtraBold"/>
                <a:cs typeface="Nunito ExtraBold"/>
                <a:sym typeface="Nunito ExtraBold"/>
              </a:rPr>
              <a:t>Happy Learning !</a:t>
            </a:r>
            <a:endParaRPr sz="3300" b="0" i="0" u="none" strike="noStrike" cap="none" dirty="0">
              <a:solidFill>
                <a:schemeClr val="lt1"/>
              </a:solidFill>
              <a:latin typeface="Nunito ExtraBold"/>
              <a:ea typeface="Nunito ExtraBold"/>
              <a:cs typeface="Nunito ExtraBold"/>
              <a:sym typeface="Nunito ExtraBold"/>
            </a:endParaRPr>
          </a:p>
        </p:txBody>
      </p:sp>
      <p:pic>
        <p:nvPicPr>
          <p:cNvPr id="112" name="Google Shape;112;p25"/>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3"/>
        <p:cNvGrpSpPr/>
        <p:nvPr/>
      </p:nvGrpSpPr>
      <p:grpSpPr>
        <a:xfrm>
          <a:off x="0" y="0"/>
          <a:ext cx="0" cy="0"/>
          <a:chOff x="0" y="0"/>
          <a:chExt cx="0" cy="0"/>
        </a:xfrm>
      </p:grpSpPr>
      <p:sp>
        <p:nvSpPr>
          <p:cNvPr id="114" name="Google Shape;114;p26"/>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15" name="Google Shape;115;p26"/>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6"/>
        <p:cNvGrpSpPr/>
        <p:nvPr/>
      </p:nvGrpSpPr>
      <p:grpSpPr>
        <a:xfrm>
          <a:off x="0" y="0"/>
          <a:ext cx="0" cy="0"/>
          <a:chOff x="0" y="0"/>
          <a:chExt cx="0" cy="0"/>
        </a:xfrm>
      </p:grpSpPr>
      <p:sp>
        <p:nvSpPr>
          <p:cNvPr id="117" name="Google Shape;117;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Clr>
                <a:srgbClr val="0E39A9"/>
              </a:buClr>
              <a:buSzPts val="3600"/>
              <a:buNone/>
              <a:defRPr sz="3600">
                <a:solidFill>
                  <a:srgbClr val="0E39A9"/>
                </a:solidFill>
              </a:defRPr>
            </a:lvl1pPr>
            <a:lvl2pPr lvl="1" algn="l" rtl="0">
              <a:lnSpc>
                <a:spcPct val="100000"/>
              </a:lnSpc>
              <a:spcBef>
                <a:spcPts val="0"/>
              </a:spcBef>
              <a:spcAft>
                <a:spcPts val="0"/>
              </a:spcAft>
              <a:buClr>
                <a:srgbClr val="0E39A9"/>
              </a:buClr>
              <a:buSzPts val="3600"/>
              <a:buNone/>
              <a:defRPr sz="3600">
                <a:solidFill>
                  <a:srgbClr val="0E39A9"/>
                </a:solidFill>
              </a:defRPr>
            </a:lvl2pPr>
            <a:lvl3pPr lvl="2" algn="l" rtl="0">
              <a:lnSpc>
                <a:spcPct val="100000"/>
              </a:lnSpc>
              <a:spcBef>
                <a:spcPts val="0"/>
              </a:spcBef>
              <a:spcAft>
                <a:spcPts val="0"/>
              </a:spcAft>
              <a:buClr>
                <a:srgbClr val="0E39A9"/>
              </a:buClr>
              <a:buSzPts val="3600"/>
              <a:buNone/>
              <a:defRPr sz="3600">
                <a:solidFill>
                  <a:srgbClr val="0E39A9"/>
                </a:solidFill>
              </a:defRPr>
            </a:lvl3pPr>
            <a:lvl4pPr lvl="3" algn="l" rtl="0">
              <a:lnSpc>
                <a:spcPct val="100000"/>
              </a:lnSpc>
              <a:spcBef>
                <a:spcPts val="0"/>
              </a:spcBef>
              <a:spcAft>
                <a:spcPts val="0"/>
              </a:spcAft>
              <a:buClr>
                <a:srgbClr val="0E39A9"/>
              </a:buClr>
              <a:buSzPts val="3600"/>
              <a:buNone/>
              <a:defRPr sz="3600">
                <a:solidFill>
                  <a:srgbClr val="0E39A9"/>
                </a:solidFill>
              </a:defRPr>
            </a:lvl4pPr>
            <a:lvl5pPr lvl="4" algn="l" rtl="0">
              <a:lnSpc>
                <a:spcPct val="100000"/>
              </a:lnSpc>
              <a:spcBef>
                <a:spcPts val="0"/>
              </a:spcBef>
              <a:spcAft>
                <a:spcPts val="0"/>
              </a:spcAft>
              <a:buClr>
                <a:srgbClr val="0E39A9"/>
              </a:buClr>
              <a:buSzPts val="3600"/>
              <a:buNone/>
              <a:defRPr sz="3600">
                <a:solidFill>
                  <a:srgbClr val="0E39A9"/>
                </a:solidFill>
              </a:defRPr>
            </a:lvl5pPr>
            <a:lvl6pPr lvl="5" algn="l" rtl="0">
              <a:lnSpc>
                <a:spcPct val="100000"/>
              </a:lnSpc>
              <a:spcBef>
                <a:spcPts val="0"/>
              </a:spcBef>
              <a:spcAft>
                <a:spcPts val="0"/>
              </a:spcAft>
              <a:buClr>
                <a:srgbClr val="0E39A9"/>
              </a:buClr>
              <a:buSzPts val="3600"/>
              <a:buNone/>
              <a:defRPr sz="3600">
                <a:solidFill>
                  <a:srgbClr val="0E39A9"/>
                </a:solidFill>
              </a:defRPr>
            </a:lvl6pPr>
            <a:lvl7pPr lvl="6" algn="l" rtl="0">
              <a:lnSpc>
                <a:spcPct val="100000"/>
              </a:lnSpc>
              <a:spcBef>
                <a:spcPts val="0"/>
              </a:spcBef>
              <a:spcAft>
                <a:spcPts val="0"/>
              </a:spcAft>
              <a:buClr>
                <a:srgbClr val="0E39A9"/>
              </a:buClr>
              <a:buSzPts val="3600"/>
              <a:buNone/>
              <a:defRPr sz="3600">
                <a:solidFill>
                  <a:srgbClr val="0E39A9"/>
                </a:solidFill>
              </a:defRPr>
            </a:lvl7pPr>
            <a:lvl8pPr lvl="7" algn="l" rtl="0">
              <a:lnSpc>
                <a:spcPct val="100000"/>
              </a:lnSpc>
              <a:spcBef>
                <a:spcPts val="0"/>
              </a:spcBef>
              <a:spcAft>
                <a:spcPts val="0"/>
              </a:spcAft>
              <a:buClr>
                <a:srgbClr val="0E39A9"/>
              </a:buClr>
              <a:buSzPts val="3600"/>
              <a:buNone/>
              <a:defRPr sz="3600">
                <a:solidFill>
                  <a:srgbClr val="0E39A9"/>
                </a:solidFill>
              </a:defRPr>
            </a:lvl8pPr>
            <a:lvl9pPr lvl="8" algn="l" rtl="0">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18" name="Google Shape;118;p2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121" name="Google Shape;121;p2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rtl="0">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rtl="0">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rtl="0">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rtl="0">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rtl="0">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rtl="0">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rtl="0">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rtl="0">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rtl="0">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22" name="Google Shape;122;p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23"/>
        <p:cNvGrpSpPr/>
        <p:nvPr/>
      </p:nvGrpSpPr>
      <p:grpSpPr>
        <a:xfrm>
          <a:off x="0" y="0"/>
          <a:ext cx="0" cy="0"/>
          <a:chOff x="0" y="0"/>
          <a:chExt cx="0" cy="0"/>
        </a:xfrm>
      </p:grpSpPr>
      <p:sp>
        <p:nvSpPr>
          <p:cNvPr id="124" name="Google Shape;124;p2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graphicFrame>
        <p:nvGraphicFramePr>
          <p:cNvPr id="125" name="Google Shape;125;p29"/>
          <p:cNvGraphicFramePr/>
          <p:nvPr/>
        </p:nvGraphicFramePr>
        <p:xfrm>
          <a:off x="201942" y="833662"/>
          <a:ext cx="3000000" cy="3000000"/>
        </p:xfrm>
        <a:graphic>
          <a:graphicData uri="http://schemas.openxmlformats.org/drawingml/2006/table">
            <a:tbl>
              <a:tblPr firstRow="1" bandRow="1">
                <a:noFill/>
                <a:tableStyleId>{51CC1095-FEA2-4AFC-BACE-85E324112692}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latin typeface="Nunito"/>
                          <a:ea typeface="Nunito"/>
                          <a:cs typeface="Nunito"/>
                          <a:sym typeface="Nunito"/>
                        </a:rPr>
                        <a:t>Cluster</a:t>
                      </a:r>
                      <a:endParaRPr sz="1400" u="none" strike="noStrike" cap="none" dirty="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latin typeface="Nunito"/>
                          <a:ea typeface="Nunito"/>
                          <a:cs typeface="Nunito"/>
                          <a:sym typeface="Nunito"/>
                        </a:rPr>
                        <a:t>Cluster Profile </a:t>
                      </a:r>
                      <a:endParaRPr sz="14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latin typeface="Nunito"/>
                          <a:ea typeface="Nunito"/>
                          <a:cs typeface="Nunito"/>
                          <a:sym typeface="Nunito"/>
                        </a:rPr>
                        <a:t>Business Insights for Marketing Team</a:t>
                      </a:r>
                      <a:endParaRPr sz="14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1</a:t>
                      </a:r>
                      <a:endParaRPr sz="1200" u="none" strike="noStrike" cap="none" dirty="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High value customers who have many credit cards and prefer to engage online</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Engage Online – Set up priority calling in lines – Upsell and Cross sell premium products</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2</a:t>
                      </a:r>
                      <a:endParaRPr sz="1200" u="none" strike="noStrike" cap="none" dirty="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dirty="0">
                          <a:latin typeface="Nunito"/>
                          <a:ea typeface="Nunito"/>
                          <a:cs typeface="Nunito"/>
                          <a:sym typeface="Nunito"/>
                        </a:rPr>
                        <a:t>…</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3</a:t>
                      </a:r>
                      <a:endParaRPr sz="1200" u="none" strike="noStrike" cap="none" dirty="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Nunito"/>
                          <a:ea typeface="Nunito"/>
                          <a:cs typeface="Nunito"/>
                          <a:sym typeface="Nunito"/>
                        </a:rPr>
                        <a:t>…</a:t>
                      </a: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26" name="Google Shape;126;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129" name="Google Shape;129;p3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130" name="Google Shape;130;p3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131" name="Google Shape;131;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134" name="Google Shape;134;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5"/>
        <p:cNvGrpSpPr/>
        <p:nvPr/>
      </p:nvGrpSpPr>
      <p:grpSpPr>
        <a:xfrm>
          <a:off x="0" y="0"/>
          <a:ext cx="0" cy="0"/>
          <a:chOff x="0" y="0"/>
          <a:chExt cx="0" cy="0"/>
        </a:xfrm>
      </p:grpSpPr>
      <p:sp>
        <p:nvSpPr>
          <p:cNvPr id="136" name="Google Shape;136;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137" name="Google Shape;137;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8"/>
        <p:cNvGrpSpPr/>
        <p:nvPr/>
      </p:nvGrpSpPr>
      <p:grpSpPr>
        <a:xfrm>
          <a:off x="0" y="0"/>
          <a:ext cx="0" cy="0"/>
          <a:chOff x="0" y="0"/>
          <a:chExt cx="0" cy="0"/>
        </a:xfrm>
      </p:grpSpPr>
      <p:sp>
        <p:nvSpPr>
          <p:cNvPr id="139" name="Google Shape;139;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40" name="Google Shape;140;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141" name="Google Shape;141;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42" name="Google Shape;142;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rtl="0">
              <a:lnSpc>
                <a:spcPct val="115000"/>
              </a:lnSpc>
              <a:spcBef>
                <a:spcPts val="0"/>
              </a:spcBef>
              <a:spcAft>
                <a:spcPts val="0"/>
              </a:spcAft>
              <a:buSzPts val="1500"/>
              <a:buChar char="●"/>
              <a:defRPr/>
            </a:lvl1pPr>
            <a:lvl2pPr marL="914400" lvl="1" indent="-311150" algn="l" rtl="0">
              <a:lnSpc>
                <a:spcPct val="115000"/>
              </a:lnSpc>
              <a:spcBef>
                <a:spcPts val="1600"/>
              </a:spcBef>
              <a:spcAft>
                <a:spcPts val="0"/>
              </a:spcAft>
              <a:buSzPts val="1300"/>
              <a:buChar char="○"/>
              <a:defRPr/>
            </a:lvl2pPr>
            <a:lvl3pPr marL="1371600" lvl="2" indent="-304800" algn="l" rtl="0">
              <a:lnSpc>
                <a:spcPct val="115000"/>
              </a:lnSpc>
              <a:spcBef>
                <a:spcPts val="1600"/>
              </a:spcBef>
              <a:spcAft>
                <a:spcPts val="0"/>
              </a:spcAft>
              <a:buSzPts val="1200"/>
              <a:buChar char="■"/>
              <a:defRPr/>
            </a:lvl3pPr>
            <a:lvl4pPr marL="1828800" lvl="3" indent="-298450" algn="l" rtl="0">
              <a:lnSpc>
                <a:spcPct val="115000"/>
              </a:lnSpc>
              <a:spcBef>
                <a:spcPts val="1600"/>
              </a:spcBef>
              <a:spcAft>
                <a:spcPts val="0"/>
              </a:spcAft>
              <a:buSzPts val="1100"/>
              <a:buChar char="●"/>
              <a:defRPr/>
            </a:lvl4pPr>
            <a:lvl5pPr marL="2286000" lvl="4" indent="-292100" algn="l" rtl="0">
              <a:lnSpc>
                <a:spcPct val="115000"/>
              </a:lnSpc>
              <a:spcBef>
                <a:spcPts val="1600"/>
              </a:spcBef>
              <a:spcAft>
                <a:spcPts val="0"/>
              </a:spcAft>
              <a:buSzPts val="1000"/>
              <a:buChar char="○"/>
              <a:defRPr/>
            </a:lvl5pPr>
            <a:lvl6pPr marL="2743200" lvl="5" indent="-285750" algn="l" rtl="0">
              <a:lnSpc>
                <a:spcPct val="115000"/>
              </a:lnSpc>
              <a:spcBef>
                <a:spcPts val="1600"/>
              </a:spcBef>
              <a:spcAft>
                <a:spcPts val="0"/>
              </a:spcAft>
              <a:buSzPts val="900"/>
              <a:buChar char="■"/>
              <a:defRPr/>
            </a:lvl6pPr>
            <a:lvl7pPr marL="3200400" lvl="6" indent="-279400" algn="l" rtl="0">
              <a:lnSpc>
                <a:spcPct val="115000"/>
              </a:lnSpc>
              <a:spcBef>
                <a:spcPts val="1600"/>
              </a:spcBef>
              <a:spcAft>
                <a:spcPts val="0"/>
              </a:spcAft>
              <a:buSzPts val="800"/>
              <a:buChar char="●"/>
              <a:defRPr/>
            </a:lvl7pPr>
            <a:lvl8pPr marL="3657600" lvl="7" indent="-273050" algn="l" rtl="0">
              <a:lnSpc>
                <a:spcPct val="115000"/>
              </a:lnSpc>
              <a:spcBef>
                <a:spcPts val="1600"/>
              </a:spcBef>
              <a:spcAft>
                <a:spcPts val="0"/>
              </a:spcAft>
              <a:buSzPts val="700"/>
              <a:buChar char="○"/>
              <a:defRPr/>
            </a:lvl8pPr>
            <a:lvl9pPr marL="4114800" lvl="8" indent="-266700" algn="l" rtl="0">
              <a:lnSpc>
                <a:spcPct val="115000"/>
              </a:lnSpc>
              <a:spcBef>
                <a:spcPts val="1600"/>
              </a:spcBef>
              <a:spcAft>
                <a:spcPts val="1600"/>
              </a:spcAft>
              <a:buSzPts val="600"/>
              <a:buChar char="■"/>
              <a:defRPr/>
            </a:lvl9pPr>
          </a:lstStyle>
          <a:p>
            <a:endParaRPr/>
          </a:p>
        </p:txBody>
      </p:sp>
      <p:sp>
        <p:nvSpPr>
          <p:cNvPr id="143" name="Google Shape;143;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4"/>
        <p:cNvGrpSpPr/>
        <p:nvPr/>
      </p:nvGrpSpPr>
      <p:grpSpPr>
        <a:xfrm>
          <a:off x="0" y="0"/>
          <a:ext cx="0" cy="0"/>
          <a:chOff x="0" y="0"/>
          <a:chExt cx="0" cy="0"/>
        </a:xfrm>
      </p:grpSpPr>
      <p:sp>
        <p:nvSpPr>
          <p:cNvPr id="145" name="Google Shape;145;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2" name="Google Shape;52;p13"/>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3" name="Google Shape;53;p13"/>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dirty="0">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dirty="0">
              <a:solidFill>
                <a:srgbClr val="434343"/>
              </a:solidFill>
              <a:latin typeface="Nunito"/>
              <a:ea typeface="Nunito"/>
              <a:cs typeface="Nunito"/>
              <a:sym typeface="Nunito"/>
            </a:endParaRPr>
          </a:p>
        </p:txBody>
      </p:sp>
      <p:sp>
        <p:nvSpPr>
          <p:cNvPr id="54" name="Google Shape;54;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pic>
        <p:nvPicPr>
          <p:cNvPr id="55" name="Google Shape;55;p13"/>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56" name="Google Shape;56;p13"/>
          <p:cNvGrpSpPr/>
          <p:nvPr/>
        </p:nvGrpSpPr>
        <p:grpSpPr>
          <a:xfrm>
            <a:off x="6593" y="10"/>
            <a:ext cx="175500" cy="709221"/>
            <a:chOff x="6593" y="10"/>
            <a:chExt cx="175500" cy="709221"/>
          </a:xfrm>
        </p:grpSpPr>
        <p:sp>
          <p:nvSpPr>
            <p:cNvPr id="57" name="Google Shape;57;p1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8" name="Google Shape;58;p1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100" name="Google Shape;100;p24"/>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01" name="Google Shape;101;p24"/>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dirty="0">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dirty="0">
              <a:solidFill>
                <a:srgbClr val="434343"/>
              </a:solidFill>
              <a:latin typeface="Nunito"/>
              <a:ea typeface="Nunito"/>
              <a:cs typeface="Nunito"/>
              <a:sym typeface="Nunito"/>
            </a:endParaRPr>
          </a:p>
        </p:txBody>
      </p:sp>
      <p:sp>
        <p:nvSpPr>
          <p:cNvPr id="102" name="Google Shape;102;p2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dirty="0"/>
          </a:p>
        </p:txBody>
      </p:sp>
      <p:pic>
        <p:nvPicPr>
          <p:cNvPr id="103" name="Google Shape;103;p24"/>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104" name="Google Shape;104;p24"/>
          <p:cNvGrpSpPr/>
          <p:nvPr/>
        </p:nvGrpSpPr>
        <p:grpSpPr>
          <a:xfrm>
            <a:off x="6593" y="10"/>
            <a:ext cx="175500" cy="709221"/>
            <a:chOff x="6593" y="10"/>
            <a:chExt cx="175500" cy="709221"/>
          </a:xfrm>
        </p:grpSpPr>
        <p:sp>
          <p:nvSpPr>
            <p:cNvPr id="105" name="Google Shape;105;p24"/>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06" name="Google Shape;106;p24"/>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Lst>
  <mc:AlternateContent xmlns:mc="http://schemas.openxmlformats.org/markup-compatibility/2006" xmlns:p14="http://schemas.microsoft.com/office/powerpoint/2010/main">
    <mc:Choice Requires="p14">
      <p:transition p14:dur="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package" Target="../embeddings/Microsoft_Word_Document.docx"/></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package" Target="../embeddings/Microsoft_Word_Document1.docx"/></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Document2.docx"/></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5"/>
          <p:cNvSpPr txBox="1">
            <a:spLocks noGrp="1"/>
          </p:cNvSpPr>
          <p:nvPr>
            <p:ph type="ctrTitle"/>
          </p:nvPr>
        </p:nvSpPr>
        <p:spPr>
          <a:xfrm>
            <a:off x="1158150" y="1412050"/>
            <a:ext cx="6827700" cy="581700"/>
          </a:xfrm>
          <a:prstGeom prst="rect">
            <a:avLst/>
          </a:prstGeom>
          <a:noFill/>
          <a:ln>
            <a:noFill/>
          </a:ln>
        </p:spPr>
        <p:txBody>
          <a:bodyPr spcFirstLastPara="1" wrap="square" lIns="91425" tIns="91425" rIns="91425" bIns="91425" anchor="b" anchorCtr="0">
            <a:noAutofit/>
          </a:bodyPr>
          <a:lstStyle/>
          <a:p>
            <a:pPr lvl="0"/>
            <a:r>
              <a:rPr lang="en-US" sz="3600" dirty="0">
                <a:solidFill>
                  <a:schemeClr val="lt2"/>
                </a:solidFill>
                <a:latin typeface="Century Gothic"/>
              </a:rPr>
              <a:t>GenAI-powered Review Categorization</a:t>
            </a:r>
            <a:endParaRPr sz="3600" dirty="0">
              <a:solidFill>
                <a:schemeClr val="lt2"/>
              </a:solidFill>
              <a:latin typeface="Century Gothic"/>
              <a:sym typeface="Century Gothic"/>
            </a:endParaRPr>
          </a:p>
        </p:txBody>
      </p:sp>
      <p:sp>
        <p:nvSpPr>
          <p:cNvPr id="151" name="Google Shape;151;p35"/>
          <p:cNvSpPr txBox="1">
            <a:spLocks noGrp="1"/>
          </p:cNvSpPr>
          <p:nvPr>
            <p:ph type="ctrTitle"/>
          </p:nvPr>
        </p:nvSpPr>
        <p:spPr>
          <a:xfrm>
            <a:off x="1153000" y="2038575"/>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000" b="0" dirty="0">
                <a:solidFill>
                  <a:schemeClr val="lt2"/>
                </a:solidFill>
                <a:latin typeface="Century Gothic"/>
                <a:ea typeface="Century Gothic"/>
                <a:cs typeface="Century Gothic"/>
                <a:sym typeface="Century Gothic"/>
              </a:rPr>
              <a:t>GenAI and Prompt Engineering</a:t>
            </a:r>
            <a:endParaRPr sz="3000" b="0" dirty="0">
              <a:solidFill>
                <a:schemeClr val="lt2"/>
              </a:solidFill>
              <a:latin typeface="Century Gothic"/>
              <a:ea typeface="Century Gothic"/>
              <a:cs typeface="Century Gothic"/>
              <a:sym typeface="Century Gothic"/>
            </a:endParaRPr>
          </a:p>
        </p:txBody>
      </p:sp>
      <p:sp>
        <p:nvSpPr>
          <p:cNvPr id="152" name="Google Shape;152;p35"/>
          <p:cNvSpPr txBox="1">
            <a:spLocks noGrp="1"/>
          </p:cNvSpPr>
          <p:nvPr>
            <p:ph type="ctrTitle"/>
          </p:nvPr>
        </p:nvSpPr>
        <p:spPr>
          <a:xfrm>
            <a:off x="1153000" y="2429300"/>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a:solidFill>
                  <a:schemeClr val="lt2"/>
                </a:solidFill>
                <a:latin typeface="Century Gothic"/>
                <a:ea typeface="Century Gothic"/>
                <a:cs typeface="Century Gothic"/>
                <a:sym typeface="Century Gothic"/>
              </a:rPr>
              <a:t>12/15/2024</a:t>
            </a:r>
            <a:endParaRPr sz="1600" b="0" dirty="0">
              <a:solidFill>
                <a:schemeClr val="lt2"/>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Contents / Agenda</a:t>
            </a:r>
            <a:endParaRPr dirty="0">
              <a:solidFill>
                <a:schemeClr val="lt2"/>
              </a:solidFill>
              <a:latin typeface="Century Gothic"/>
              <a:ea typeface="Century Gothic"/>
              <a:cs typeface="Century Gothic"/>
              <a:sym typeface="Century Gothic"/>
            </a:endParaRPr>
          </a:p>
        </p:txBody>
      </p:sp>
      <p:sp>
        <p:nvSpPr>
          <p:cNvPr id="158" name="Google Shape;158;p3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Business Context, Problem Overview and Solution Approach</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Prompt and the structure of the Prompt</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Exploring Different Prompting Techniques</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Output from the Prompt</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Observations/Insights and conclusions</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100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Appendix</a:t>
            </a:r>
            <a:endParaRPr sz="14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7"/>
          <p:cNvSpPr txBox="1">
            <a:spLocks noGrp="1"/>
          </p:cNvSpPr>
          <p:nvPr>
            <p:ph type="title"/>
          </p:nvPr>
        </p:nvSpPr>
        <p:spPr>
          <a:xfrm>
            <a:off x="202550" y="289275"/>
            <a:ext cx="8273540" cy="810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Business Context/Problem Overview and Solution Approach</a:t>
            </a:r>
            <a:endParaRPr dirty="0">
              <a:solidFill>
                <a:schemeClr val="lt2"/>
              </a:solidFill>
              <a:latin typeface="Century Gothic"/>
              <a:ea typeface="Century Gothic"/>
              <a:cs typeface="Century Gothic"/>
              <a:sym typeface="Century Gothic"/>
            </a:endParaRPr>
          </a:p>
        </p:txBody>
      </p:sp>
      <p:sp>
        <p:nvSpPr>
          <p:cNvPr id="164" name="Google Shape;164;p37"/>
          <p:cNvSpPr txBox="1">
            <a:spLocks noGrp="1"/>
          </p:cNvSpPr>
          <p:nvPr>
            <p:ph type="body" idx="1"/>
          </p:nvPr>
        </p:nvSpPr>
        <p:spPr>
          <a:xfrm>
            <a:off x="202550" y="764705"/>
            <a:ext cx="8806278" cy="4188958"/>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chemeClr val="dk1"/>
              </a:buClr>
              <a:buSzPts val="1400"/>
              <a:buNone/>
            </a:pPr>
            <a:r>
              <a:rPr lang="en-US" sz="1400" b="1" dirty="0">
                <a:solidFill>
                  <a:schemeClr val="dk1"/>
                </a:solidFill>
                <a:latin typeface="Century Gothic"/>
                <a:ea typeface="Century Gothic"/>
                <a:cs typeface="Century Gothic"/>
                <a:sym typeface="Century Gothic"/>
              </a:rPr>
              <a:t>Problem Statement:</a:t>
            </a:r>
          </a:p>
          <a:p>
            <a:pPr marL="133350" indent="0">
              <a:buNone/>
            </a:pPr>
            <a:r>
              <a:rPr lang="en-US" sz="1200" dirty="0">
                <a:solidFill>
                  <a:schemeClr val="dk1"/>
                </a:solidFill>
                <a:latin typeface="Century Gothic"/>
              </a:rPr>
              <a:t>The company recognizes the pivotal role customer feedback plays in transforming the trajectory of its products and services. While the company has a wealth of customer-generated feedback, it lacks a structured approach or method to analyze and utilize it effectively. A structured process would enable the business to identify pressing issues, set priorities, and allocate resources more precisely.</a:t>
            </a:r>
          </a:p>
          <a:p>
            <a:pPr marL="139700" indent="0">
              <a:spcBef>
                <a:spcPts val="1000"/>
              </a:spcBef>
              <a:buClr>
                <a:schemeClr val="dk1"/>
              </a:buClr>
              <a:buSzPts val="1400"/>
              <a:buNone/>
            </a:pPr>
            <a:r>
              <a:rPr lang="en" sz="1400" b="1" dirty="0">
                <a:solidFill>
                  <a:schemeClr val="dk1"/>
                </a:solidFill>
                <a:latin typeface="Century Gothic"/>
                <a:sym typeface="Century Gothic"/>
              </a:rPr>
              <a:t>Solution approach / methodology:</a:t>
            </a:r>
            <a:endParaRPr lang="en-US" sz="1200" dirty="0">
              <a:solidFill>
                <a:schemeClr val="dk1"/>
              </a:solidFill>
              <a:latin typeface="Century Gothic"/>
              <a:ea typeface="Century Gothic"/>
              <a:cs typeface="Century Gothic"/>
              <a:sym typeface="Century Gothic"/>
            </a:endParaRPr>
          </a:p>
          <a:p>
            <a:pPr marL="133350" indent="0">
              <a:buNone/>
            </a:pPr>
            <a:r>
              <a:rPr lang="en-US" sz="1200" dirty="0">
                <a:solidFill>
                  <a:schemeClr val="dk1"/>
                </a:solidFill>
                <a:latin typeface="Century Gothic"/>
              </a:rPr>
              <a:t>To address this challenge, the proposed strategy is to leverage Large Language Models (LLMs) and Generative AI platforms such as ChatGPT and Copilot. A comprehensive prompt engineering approach will be utilized to:  </a:t>
            </a:r>
          </a:p>
          <a:p>
            <a:pPr>
              <a:buFont typeface="Arial" panose="020B0604020202020204" pitchFamily="34" charset="0"/>
              <a:buChar char="•"/>
            </a:pPr>
            <a:r>
              <a:rPr lang="en-US" sz="1200" dirty="0">
                <a:solidFill>
                  <a:schemeClr val="dk1"/>
                </a:solidFill>
                <a:latin typeface="Century Gothic"/>
              </a:rPr>
              <a:t>Predict review categories,  </a:t>
            </a:r>
          </a:p>
          <a:p>
            <a:pPr>
              <a:buFont typeface="Arial" panose="020B0604020202020204" pitchFamily="34" charset="0"/>
              <a:buChar char="•"/>
            </a:pPr>
            <a:r>
              <a:rPr lang="en-US" sz="1200" dirty="0">
                <a:solidFill>
                  <a:schemeClr val="dk1"/>
                </a:solidFill>
                <a:latin typeface="Century Gothic"/>
              </a:rPr>
              <a:t>Assign priorities,  </a:t>
            </a:r>
          </a:p>
          <a:p>
            <a:pPr>
              <a:buFont typeface="Arial" panose="020B0604020202020204" pitchFamily="34" charset="0"/>
              <a:buChar char="•"/>
            </a:pPr>
            <a:r>
              <a:rPr lang="en-US" sz="1200" dirty="0">
                <a:solidFill>
                  <a:schemeClr val="dk1"/>
                </a:solidFill>
                <a:latin typeface="Century Gothic"/>
              </a:rPr>
              <a:t>Suggest actionable steps</a:t>
            </a:r>
          </a:p>
          <a:p>
            <a:pPr>
              <a:buFont typeface="Arial" panose="020B0604020202020204" pitchFamily="34" charset="0"/>
              <a:buChar char="•"/>
            </a:pPr>
            <a:r>
              <a:rPr lang="en-US" sz="1200" dirty="0">
                <a:solidFill>
                  <a:schemeClr val="dk1"/>
                </a:solidFill>
                <a:latin typeface="Century Gothic"/>
              </a:rPr>
              <a:t>Generate responses based on sentiment analysis.</a:t>
            </a:r>
          </a:p>
          <a:p>
            <a:pPr marL="133350" indent="0">
              <a:buNone/>
            </a:pPr>
            <a:endParaRPr lang="en-US" sz="1200" dirty="0">
              <a:solidFill>
                <a:schemeClr val="dk1"/>
              </a:solidFill>
              <a:latin typeface="Century Gothic"/>
            </a:endParaRPr>
          </a:p>
          <a:p>
            <a:pPr marL="133350" indent="0">
              <a:buNone/>
            </a:pPr>
            <a:r>
              <a:rPr lang="en-US" sz="1200" dirty="0">
                <a:solidFill>
                  <a:schemeClr val="dk1"/>
                </a:solidFill>
                <a:latin typeface="Century Gothic"/>
              </a:rPr>
              <a:t>To achieve this, different prompt engineering techniques will be used to determine which gives a better output.</a:t>
            </a:r>
          </a:p>
          <a:p>
            <a:pPr lvl="2" indent="-317500">
              <a:spcBef>
                <a:spcPts val="0"/>
              </a:spcBef>
              <a:buClr>
                <a:schemeClr val="dk1"/>
              </a:buClr>
              <a:buSzPts val="1400"/>
              <a:buFont typeface="Arial" panose="020B0604020202020204" pitchFamily="34" charset="0"/>
              <a:buChar char="•"/>
            </a:pPr>
            <a:r>
              <a:rPr lang="en-US" sz="1050" dirty="0">
                <a:solidFill>
                  <a:schemeClr val="dk1"/>
                </a:solidFill>
                <a:latin typeface="Century Gothic"/>
              </a:rPr>
              <a:t>Zero-Shot</a:t>
            </a:r>
          </a:p>
          <a:p>
            <a:pPr lvl="2" indent="-317500">
              <a:spcBef>
                <a:spcPts val="0"/>
              </a:spcBef>
              <a:buClr>
                <a:schemeClr val="dk1"/>
              </a:buClr>
              <a:buSzPts val="1400"/>
              <a:buFont typeface="Arial" panose="020B0604020202020204" pitchFamily="34" charset="0"/>
              <a:buChar char="•"/>
            </a:pPr>
            <a:r>
              <a:rPr lang="en-US" sz="1050" dirty="0">
                <a:solidFill>
                  <a:schemeClr val="dk1"/>
                </a:solidFill>
                <a:latin typeface="Century Gothic"/>
              </a:rPr>
              <a:t>One-Shot</a:t>
            </a:r>
          </a:p>
          <a:p>
            <a:pPr lvl="2" indent="-317500">
              <a:spcBef>
                <a:spcPts val="0"/>
              </a:spcBef>
              <a:buClr>
                <a:schemeClr val="dk1"/>
              </a:buClr>
              <a:buSzPts val="1400"/>
              <a:buFont typeface="Arial" panose="020B0604020202020204" pitchFamily="34" charset="0"/>
              <a:buChar char="•"/>
            </a:pPr>
            <a:r>
              <a:rPr lang="en-US" sz="1050" dirty="0">
                <a:solidFill>
                  <a:schemeClr val="dk1"/>
                </a:solidFill>
                <a:latin typeface="Century Gothic"/>
              </a:rPr>
              <a:t>Chain-of-Thought</a:t>
            </a:r>
            <a:endParaRPr lang="en-US" sz="1050" dirty="0">
              <a:solidFill>
                <a:schemeClr val="dk1"/>
              </a:solidFill>
              <a:latin typeface="Century Gothic"/>
              <a:sym typeface="Century Gothic"/>
            </a:endParaRPr>
          </a:p>
          <a:p>
            <a:pPr lvl="1" indent="-317500">
              <a:spcBef>
                <a:spcPts val="1000"/>
              </a:spcBef>
              <a:buClr>
                <a:schemeClr val="dk1"/>
              </a:buClr>
              <a:buSzPts val="1400"/>
              <a:buFont typeface="Century Gothic"/>
              <a:buChar char="●"/>
            </a:pPr>
            <a:endParaRPr lang="en-US" sz="1200" dirty="0">
              <a:solidFill>
                <a:schemeClr val="dk1"/>
              </a:solidFill>
              <a:latin typeface="Century Gothic"/>
              <a:ea typeface="Century Gothic"/>
              <a:cs typeface="Century Gothic"/>
              <a:sym typeface="Century Gothic"/>
            </a:endParaRPr>
          </a:p>
          <a:p>
            <a:pPr marL="139700" indent="0">
              <a:spcBef>
                <a:spcPts val="1000"/>
              </a:spcBef>
              <a:buClr>
                <a:schemeClr val="dk1"/>
              </a:buClr>
              <a:buSzPts val="1400"/>
              <a:buNone/>
            </a:pPr>
            <a:endParaRPr lang="en" sz="1400" b="1" dirty="0">
              <a:solidFill>
                <a:schemeClr val="dk1"/>
              </a:solidFill>
              <a:latin typeface="Century Gothic"/>
              <a:sym typeface="Century Gothic"/>
            </a:endParaRPr>
          </a:p>
          <a:p>
            <a:pPr marL="139700" indent="0">
              <a:spcBef>
                <a:spcPts val="1000"/>
              </a:spcBef>
              <a:buClr>
                <a:schemeClr val="dk1"/>
              </a:buClr>
              <a:buSzPts val="1400"/>
              <a:buNone/>
            </a:pPr>
            <a:endParaRPr sz="1400" b="1" dirty="0">
              <a:solidFill>
                <a:schemeClr val="dk1"/>
              </a:solidFill>
              <a:latin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Using Zero-Short Prompt and the structure of the Prompt</a:t>
            </a:r>
            <a:endParaRPr dirty="0">
              <a:solidFill>
                <a:schemeClr val="lt2"/>
              </a:solidFill>
              <a:latin typeface="Century Gothic"/>
              <a:ea typeface="Century Gothic"/>
              <a:cs typeface="Century Gothic"/>
              <a:sym typeface="Century Gothic"/>
            </a:endParaRPr>
          </a:p>
        </p:txBody>
      </p:sp>
      <p:sp>
        <p:nvSpPr>
          <p:cNvPr id="170" name="Google Shape;170;p38"/>
          <p:cNvSpPr txBox="1">
            <a:spLocks noGrp="1"/>
          </p:cNvSpPr>
          <p:nvPr>
            <p:ph type="body" idx="1"/>
          </p:nvPr>
        </p:nvSpPr>
        <p:spPr>
          <a:xfrm>
            <a:off x="202550" y="789146"/>
            <a:ext cx="8629800" cy="4098443"/>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Clr>
                <a:schemeClr val="dk1"/>
              </a:buClr>
              <a:buSzPts val="1400"/>
              <a:buNone/>
            </a:pPr>
            <a:r>
              <a:rPr lang="en-US" sz="1400" dirty="0">
                <a:solidFill>
                  <a:schemeClr val="dk1"/>
                </a:solidFill>
                <a:latin typeface="Century Gothic"/>
                <a:ea typeface="Century Gothic"/>
                <a:cs typeface="Century Gothic"/>
                <a:sym typeface="Century Gothic"/>
              </a:rPr>
              <a:t>We will first try with the zero-short prompt and see the response from Chatpgt.</a:t>
            </a:r>
          </a:p>
          <a:p>
            <a:pPr marL="139700" lvl="0" indent="0" algn="l" rtl="0">
              <a:lnSpc>
                <a:spcPct val="115000"/>
              </a:lnSpc>
              <a:spcBef>
                <a:spcPts val="0"/>
              </a:spcBef>
              <a:spcAft>
                <a:spcPts val="0"/>
              </a:spcAft>
              <a:buClr>
                <a:schemeClr val="dk1"/>
              </a:buClr>
              <a:buSzPts val="1400"/>
              <a:buNone/>
            </a:pPr>
            <a:endParaRPr lang="en-US" sz="1400" b="1" dirty="0">
              <a:solidFill>
                <a:schemeClr val="dk1"/>
              </a:solidFill>
              <a:latin typeface="Century Gothic"/>
              <a:ea typeface="Century Gothic"/>
              <a:cs typeface="Century Gothic"/>
              <a:sym typeface="Century Gothic"/>
            </a:endParaRPr>
          </a:p>
          <a:p>
            <a:pPr marL="139700" lvl="0" indent="0" algn="l" rtl="0">
              <a:lnSpc>
                <a:spcPct val="115000"/>
              </a:lnSpc>
              <a:spcBef>
                <a:spcPts val="0"/>
              </a:spcBef>
              <a:spcAft>
                <a:spcPts val="0"/>
              </a:spcAft>
              <a:buClr>
                <a:schemeClr val="dk1"/>
              </a:buClr>
              <a:buSzPts val="1400"/>
              <a:buNone/>
            </a:pPr>
            <a:r>
              <a:rPr lang="en-US" sz="1400" b="1" dirty="0">
                <a:solidFill>
                  <a:schemeClr val="dk1"/>
                </a:solidFill>
                <a:latin typeface="Century Gothic"/>
                <a:ea typeface="Century Gothic"/>
                <a:cs typeface="Century Gothic"/>
                <a:sym typeface="Century Gothic"/>
              </a:rPr>
              <a:t>Task Definition:</a:t>
            </a:r>
          </a:p>
          <a:p>
            <a:pPr lvl="1" indent="-317500">
              <a:spcBef>
                <a:spcPts val="0"/>
              </a:spcBef>
              <a:buClr>
                <a:schemeClr val="dk1"/>
              </a:buClr>
              <a:buSzPts val="1400"/>
              <a:buFont typeface="Century Gothic"/>
              <a:buChar char="●"/>
            </a:pPr>
            <a:r>
              <a:rPr lang="en-US" sz="1200" dirty="0">
                <a:solidFill>
                  <a:schemeClr val="dk1"/>
                </a:solidFill>
                <a:latin typeface="Century Gothic"/>
                <a:ea typeface="Century Gothic"/>
                <a:cs typeface="Century Gothic"/>
                <a:sym typeface="Century Gothic"/>
              </a:rPr>
              <a:t>Our goal is to build a system that can classify customer reviews on the restaurant as either positive, negative or neutral. To achieve this, we will use a zero-short prompting technique will be performed.</a:t>
            </a:r>
            <a:endParaRPr sz="1200" dirty="0">
              <a:solidFill>
                <a:schemeClr val="dk1"/>
              </a:solidFill>
              <a:latin typeface="Century Gothic"/>
              <a:ea typeface="Century Gothic"/>
              <a:cs typeface="Century Gothic"/>
              <a:sym typeface="Century Gothic"/>
            </a:endParaRPr>
          </a:p>
          <a:p>
            <a:pPr marL="139700" indent="0">
              <a:buClr>
                <a:schemeClr val="dk1"/>
              </a:buClr>
              <a:buSzPts val="1400"/>
              <a:buNone/>
            </a:pPr>
            <a:r>
              <a:rPr lang="en" sz="1400" b="1" dirty="0">
                <a:solidFill>
                  <a:schemeClr val="dk1"/>
                </a:solidFill>
                <a:latin typeface="Century Gothic"/>
                <a:sym typeface="Century Gothic"/>
              </a:rPr>
              <a:t>Structure of the Prompt</a:t>
            </a:r>
          </a:p>
          <a:p>
            <a:pPr lvl="1" indent="-317500">
              <a:buClr>
                <a:schemeClr val="dk1"/>
              </a:buClr>
              <a:buSzPts val="1400"/>
              <a:buFont typeface="Century Gothic"/>
              <a:buChar char="●"/>
            </a:pPr>
            <a:r>
              <a:rPr lang="en" sz="1200" dirty="0">
                <a:solidFill>
                  <a:schemeClr val="dk1"/>
                </a:solidFill>
                <a:latin typeface="Century Gothic"/>
                <a:sym typeface="Century Gothic"/>
              </a:rPr>
              <a:t>As a customer at the restaurant, your task is to classify the experience with the food as positive, negative, or neutral. Check Tags like food, quality, service, ambiance, price and overall experience. Put priority on review where positive reviews equals High, neutral equals Medium and negative equals low. Provide action/next steps based on the feedback </a:t>
            </a:r>
            <a:r>
              <a:rPr lang="en-US" sz="1200" dirty="0">
                <a:solidFill>
                  <a:schemeClr val="dk1"/>
                </a:solidFill>
                <a:latin typeface="Century Gothic"/>
                <a:sym typeface="Century Gothic"/>
              </a:rPr>
              <a:t>provided</a:t>
            </a:r>
            <a:r>
              <a:rPr lang="en" sz="1200" dirty="0">
                <a:solidFill>
                  <a:schemeClr val="dk1"/>
                </a:solidFill>
                <a:latin typeface="Century Gothic"/>
                <a:sym typeface="Century Gothic"/>
              </a:rPr>
              <a:t>. Generate 1</a:t>
            </a:r>
            <a:r>
              <a:rPr lang="en" sz="1200" baseline="30000" dirty="0">
                <a:solidFill>
                  <a:schemeClr val="dk1"/>
                </a:solidFill>
                <a:latin typeface="Century Gothic"/>
                <a:sym typeface="Century Gothic"/>
              </a:rPr>
              <a:t>st</a:t>
            </a:r>
            <a:r>
              <a:rPr lang="en" sz="1200" dirty="0">
                <a:solidFill>
                  <a:schemeClr val="dk1"/>
                </a:solidFill>
                <a:latin typeface="Century Gothic"/>
                <a:sym typeface="Century Gothic"/>
              </a:rPr>
              <a:t> reply, the first response to deliver to the customer based on the sentiment of the review. Create the output in a tabular format.</a:t>
            </a:r>
            <a:endParaRPr lang="en" sz="1000" dirty="0">
              <a:solidFill>
                <a:schemeClr val="dk1"/>
              </a:solidFill>
              <a:latin typeface="Century Gothic"/>
              <a:sym typeface="Century Gothic"/>
            </a:endParaRPr>
          </a:p>
          <a:p>
            <a:pPr marL="139700" lvl="1" indent="0">
              <a:spcBef>
                <a:spcPts val="0"/>
              </a:spcBef>
              <a:buClr>
                <a:schemeClr val="dk1"/>
              </a:buClr>
              <a:buSzPts val="1400"/>
              <a:buNone/>
            </a:pPr>
            <a:r>
              <a:rPr lang="en" sz="1400" b="1" dirty="0">
                <a:solidFill>
                  <a:schemeClr val="dk1"/>
                </a:solidFill>
                <a:latin typeface="Century Gothic"/>
                <a:sym typeface="Century Gothic"/>
              </a:rPr>
              <a:t>Output from </a:t>
            </a:r>
            <a:r>
              <a:rPr lang="en-US" sz="1400" b="1" dirty="0">
                <a:solidFill>
                  <a:schemeClr val="dk1"/>
                </a:solidFill>
                <a:latin typeface="Century Gothic"/>
                <a:sym typeface="Century Gothic"/>
              </a:rPr>
              <a:t>Chatpgt</a:t>
            </a:r>
          </a:p>
          <a:p>
            <a:pPr marL="1397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endParaRPr lang="en" sz="1400" b="1" dirty="0">
              <a:solidFill>
                <a:schemeClr val="dk1"/>
              </a:solidFill>
              <a:latin typeface="Century Gothic"/>
              <a:sym typeface="Century Gothic"/>
            </a:endParaRPr>
          </a:p>
          <a:p>
            <a:pPr marL="139700" lvl="1" indent="0">
              <a:spcBef>
                <a:spcPts val="0"/>
              </a:spcBef>
              <a:buClr>
                <a:schemeClr val="dk1"/>
              </a:buClr>
              <a:buSzPts val="1400"/>
              <a:buNone/>
            </a:pPr>
            <a:endParaRPr lang="en" sz="1400" b="1" dirty="0">
              <a:solidFill>
                <a:schemeClr val="dk1"/>
              </a:solidFill>
              <a:latin typeface="Century Gothic"/>
              <a:sym typeface="Century Gothic"/>
            </a:endParaRPr>
          </a:p>
          <a:p>
            <a:pPr marL="139700" lvl="1" indent="0">
              <a:spcBef>
                <a:spcPts val="0"/>
              </a:spcBef>
              <a:buClr>
                <a:schemeClr val="dk1"/>
              </a:buClr>
              <a:buSzPts val="1400"/>
              <a:buNone/>
            </a:pPr>
            <a:endParaRPr lang="en" sz="1400" b="1" dirty="0">
              <a:solidFill>
                <a:schemeClr val="dk1"/>
              </a:solidFill>
              <a:latin typeface="Century Gothic"/>
              <a:sym typeface="Century Gothic"/>
            </a:endParaRPr>
          </a:p>
          <a:p>
            <a:pPr marL="139700" lvl="1" indent="0">
              <a:spcBef>
                <a:spcPts val="0"/>
              </a:spcBef>
              <a:buClr>
                <a:schemeClr val="dk1"/>
              </a:buClr>
              <a:buSzPts val="1400"/>
              <a:buNone/>
            </a:pPr>
            <a:endParaRPr lang="en" sz="1400" b="1" dirty="0">
              <a:solidFill>
                <a:schemeClr val="dk1"/>
              </a:solidFill>
              <a:latin typeface="Century Gothic"/>
              <a:sym typeface="Century Gothic"/>
            </a:endParaRPr>
          </a:p>
          <a:p>
            <a:pPr marL="596900" lvl="1" indent="0">
              <a:buClr>
                <a:schemeClr val="dk1"/>
              </a:buClr>
              <a:buSzPts val="1400"/>
              <a:buNone/>
            </a:pPr>
            <a:endParaRPr lang="en" sz="1200" b="1" dirty="0">
              <a:solidFill>
                <a:schemeClr val="dk1"/>
              </a:solidFill>
              <a:latin typeface="Century Gothic"/>
              <a:sym typeface="Century Gothic"/>
            </a:endParaRPr>
          </a:p>
          <a:p>
            <a:pPr marL="596900" lvl="1" indent="0">
              <a:buClr>
                <a:schemeClr val="dk1"/>
              </a:buClr>
              <a:buSzPts val="1400"/>
              <a:buNone/>
            </a:pPr>
            <a:endParaRPr sz="1200" b="1" dirty="0">
              <a:solidFill>
                <a:schemeClr val="dk1"/>
              </a:solidFill>
              <a:latin typeface="Century Gothic"/>
              <a:sym typeface="Century Gothic"/>
            </a:endParaRPr>
          </a:p>
          <a:p>
            <a:pPr marL="0" lvl="0" indent="0" algn="l" rtl="0">
              <a:lnSpc>
                <a:spcPct val="115000"/>
              </a:lnSpc>
              <a:spcBef>
                <a:spcPts val="1000"/>
              </a:spcBef>
              <a:spcAft>
                <a:spcPts val="0"/>
              </a:spcAft>
              <a:buSzPts val="1500"/>
              <a:buNone/>
            </a:pPr>
            <a:endParaRPr sz="1400" dirty="0">
              <a:solidFill>
                <a:schemeClr val="dk1"/>
              </a:solidFill>
              <a:latin typeface="Century Gothic"/>
              <a:ea typeface="Century Gothic"/>
              <a:cs typeface="Century Gothic"/>
              <a:sym typeface="Century Gothic"/>
            </a:endParaRPr>
          </a:p>
        </p:txBody>
      </p:sp>
      <p:graphicFrame>
        <p:nvGraphicFramePr>
          <p:cNvPr id="9" name="Object 8">
            <a:extLst>
              <a:ext uri="{FF2B5EF4-FFF2-40B4-BE49-F238E27FC236}">
                <a16:creationId xmlns:a16="http://schemas.microsoft.com/office/drawing/2014/main" id="{6967F480-2C63-D94F-9A9C-061384279958}"/>
              </a:ext>
            </a:extLst>
          </p:cNvPr>
          <p:cNvGraphicFramePr>
            <a:graphicFrameLocks noChangeAspect="1"/>
          </p:cNvGraphicFramePr>
          <p:nvPr>
            <p:extLst>
              <p:ext uri="{D42A27DB-BD31-4B8C-83A1-F6EECF244321}">
                <p14:modId xmlns:p14="http://schemas.microsoft.com/office/powerpoint/2010/main" val="3810370711"/>
              </p:ext>
            </p:extLst>
          </p:nvPr>
        </p:nvGraphicFramePr>
        <p:xfrm>
          <a:off x="3709074" y="4047198"/>
          <a:ext cx="965200" cy="609600"/>
        </p:xfrm>
        <a:graphic>
          <a:graphicData uri="http://schemas.openxmlformats.org/presentationml/2006/ole">
            <mc:AlternateContent xmlns:mc="http://schemas.openxmlformats.org/markup-compatibility/2006">
              <mc:Choice xmlns:v="urn:schemas-microsoft-com:vml" Requires="v">
                <p:oleObj spid="_x0000_s1115" name="Document" showAsIcon="1" r:id="rId4" imgW="965200" imgH="609600" progId="Word.Document.12">
                  <p:embed/>
                </p:oleObj>
              </mc:Choice>
              <mc:Fallback>
                <p:oleObj name="Document" showAsIcon="1" r:id="rId4" imgW="965200" imgH="609600" progId="Word.Document.12">
                  <p:embed/>
                  <p:pic>
                    <p:nvPicPr>
                      <p:cNvPr id="0" name=""/>
                      <p:cNvPicPr/>
                      <p:nvPr/>
                    </p:nvPicPr>
                    <p:blipFill>
                      <a:blip r:embed="rId5"/>
                      <a:stretch>
                        <a:fillRect/>
                      </a:stretch>
                    </p:blipFill>
                    <p:spPr>
                      <a:xfrm>
                        <a:off x="3709074" y="4047198"/>
                        <a:ext cx="965200" cy="609600"/>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Prompt Output</a:t>
            </a:r>
            <a:endParaRPr dirty="0">
              <a:solidFill>
                <a:schemeClr val="lt2"/>
              </a:solidFill>
              <a:latin typeface="Century Gothic"/>
              <a:ea typeface="Century Gothic"/>
              <a:cs typeface="Century Gothic"/>
              <a:sym typeface="Century Gothic"/>
            </a:endParaRPr>
          </a:p>
        </p:txBody>
      </p:sp>
      <p:sp>
        <p:nvSpPr>
          <p:cNvPr id="207" name="Google Shape;207;p44"/>
          <p:cNvSpPr txBox="1">
            <a:spLocks noGrp="1"/>
          </p:cNvSpPr>
          <p:nvPr>
            <p:ph type="body" idx="1"/>
          </p:nvPr>
        </p:nvSpPr>
        <p:spPr>
          <a:xfrm>
            <a:off x="202550" y="861975"/>
            <a:ext cx="8629800" cy="3863774"/>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1000"/>
              </a:spcAft>
              <a:buClr>
                <a:schemeClr val="dk1"/>
              </a:buClr>
              <a:buSzPts val="1400"/>
              <a:buNone/>
            </a:pPr>
            <a:endParaRPr lang="en-US" sz="1400" dirty="0">
              <a:solidFill>
                <a:schemeClr val="dk1"/>
              </a:solidFill>
              <a:latin typeface="Century Gothic"/>
              <a:ea typeface="Century Gothic"/>
              <a:cs typeface="Century Gothic"/>
              <a:sym typeface="Century Gothic"/>
            </a:endParaRPr>
          </a:p>
          <a:p>
            <a:pPr marL="139700" lvl="0" indent="0" algn="l" rtl="0">
              <a:lnSpc>
                <a:spcPct val="115000"/>
              </a:lnSpc>
              <a:spcBef>
                <a:spcPts val="1000"/>
              </a:spcBef>
              <a:spcAft>
                <a:spcPts val="1000"/>
              </a:spcAft>
              <a:buClr>
                <a:schemeClr val="dk1"/>
              </a:buClr>
              <a:buSzPts val="1400"/>
              <a:buNone/>
            </a:pPr>
            <a:endParaRPr lang="en-US" sz="1400" dirty="0">
              <a:solidFill>
                <a:schemeClr val="dk1"/>
              </a:solidFill>
              <a:latin typeface="Century Gothic"/>
              <a:ea typeface="Century Gothic"/>
              <a:cs typeface="Century Gothic"/>
              <a:sym typeface="Century Gothic"/>
            </a:endParaRPr>
          </a:p>
          <a:p>
            <a:pPr marL="139700" lvl="0" indent="0" algn="l" rtl="0">
              <a:lnSpc>
                <a:spcPct val="115000"/>
              </a:lnSpc>
              <a:spcBef>
                <a:spcPts val="1000"/>
              </a:spcBef>
              <a:spcAft>
                <a:spcPts val="1000"/>
              </a:spcAft>
              <a:buClr>
                <a:schemeClr val="dk1"/>
              </a:buClr>
              <a:buSzPts val="1400"/>
              <a:buNone/>
            </a:pPr>
            <a:endParaRPr lang="en-US" sz="1400" dirty="0">
              <a:solidFill>
                <a:schemeClr val="dk1"/>
              </a:solidFill>
              <a:latin typeface="Century Gothic"/>
              <a:ea typeface="Century Gothic"/>
              <a:cs typeface="Century Gothic"/>
              <a:sym typeface="Century Gothic"/>
            </a:endParaRPr>
          </a:p>
          <a:p>
            <a:pPr marL="139700" lvl="0" indent="0" algn="l" rtl="0">
              <a:lnSpc>
                <a:spcPct val="115000"/>
              </a:lnSpc>
              <a:spcBef>
                <a:spcPts val="1000"/>
              </a:spcBef>
              <a:spcAft>
                <a:spcPts val="1000"/>
              </a:spcAft>
              <a:buClr>
                <a:schemeClr val="dk1"/>
              </a:buClr>
              <a:buSzPts val="1400"/>
              <a:buNone/>
            </a:pPr>
            <a:endParaRPr lang="en-US" sz="1400" dirty="0">
              <a:solidFill>
                <a:schemeClr val="dk1"/>
              </a:solidFill>
              <a:latin typeface="Century Gothic"/>
              <a:ea typeface="Century Gothic"/>
              <a:cs typeface="Century Gothic"/>
              <a:sym typeface="Century Gothic"/>
            </a:endParaRPr>
          </a:p>
          <a:p>
            <a:pPr marL="139700" lvl="0" indent="0" algn="l" rtl="0">
              <a:lnSpc>
                <a:spcPct val="115000"/>
              </a:lnSpc>
              <a:spcBef>
                <a:spcPts val="1000"/>
              </a:spcBef>
              <a:spcAft>
                <a:spcPts val="1000"/>
              </a:spcAft>
              <a:buClr>
                <a:schemeClr val="dk1"/>
              </a:buClr>
              <a:buSzPts val="1400"/>
              <a:buNone/>
            </a:pPr>
            <a:endParaRPr lang="en-US" sz="1400" dirty="0">
              <a:solidFill>
                <a:schemeClr val="dk1"/>
              </a:solidFill>
              <a:latin typeface="Century Gothic"/>
              <a:ea typeface="Century Gothic"/>
              <a:cs typeface="Century Gothic"/>
              <a:sym typeface="Century Gothic"/>
            </a:endParaRPr>
          </a:p>
          <a:p>
            <a:pPr marL="139700" lvl="0" indent="0" algn="l" rtl="0">
              <a:lnSpc>
                <a:spcPct val="115000"/>
              </a:lnSpc>
              <a:spcBef>
                <a:spcPts val="1000"/>
              </a:spcBef>
              <a:spcAft>
                <a:spcPts val="1000"/>
              </a:spcAft>
              <a:buClr>
                <a:schemeClr val="dk1"/>
              </a:buClr>
              <a:buSzPts val="1400"/>
              <a:buNone/>
            </a:pPr>
            <a:endParaRPr lang="en-US" sz="1400" dirty="0">
              <a:solidFill>
                <a:schemeClr val="dk1"/>
              </a:solidFill>
              <a:latin typeface="Century Gothic"/>
              <a:ea typeface="Century Gothic"/>
              <a:cs typeface="Century Gothic"/>
              <a:sym typeface="Century Gothic"/>
            </a:endParaRPr>
          </a:p>
          <a:p>
            <a:r>
              <a:rPr lang="en-US" sz="1100" dirty="0">
                <a:solidFill>
                  <a:schemeClr val="dk1"/>
                </a:solidFill>
                <a:latin typeface="Century Gothic"/>
              </a:rPr>
              <a:t>The file contains customer reviews and their associated IDs. I'll now classify the sentiment, assign priorities, add relevant tags, and generate the first responses for each review. Let's process the data into the requested tabular format. ​​</a:t>
            </a:r>
          </a:p>
          <a:p>
            <a:r>
              <a:rPr lang="en-US" sz="1100" dirty="0">
                <a:solidFill>
                  <a:schemeClr val="dk1"/>
                </a:solidFill>
                <a:latin typeface="Century Gothic"/>
              </a:rPr>
              <a:t>If any additional adjustments or refinements are required, let me know! ​​</a:t>
            </a:r>
          </a:p>
          <a:p>
            <a:pPr marL="139700" lvl="0" indent="0" algn="l" rtl="0">
              <a:lnSpc>
                <a:spcPct val="115000"/>
              </a:lnSpc>
              <a:spcBef>
                <a:spcPts val="1000"/>
              </a:spcBef>
              <a:spcAft>
                <a:spcPts val="1000"/>
              </a:spcAft>
              <a:buClr>
                <a:schemeClr val="dk1"/>
              </a:buClr>
              <a:buSzPts val="1400"/>
              <a:buNone/>
            </a:pPr>
            <a:endParaRPr sz="1400" dirty="0">
              <a:solidFill>
                <a:schemeClr val="dk1"/>
              </a:solidFill>
              <a:latin typeface="Century Gothic"/>
              <a:ea typeface="Century Gothic"/>
              <a:cs typeface="Century Gothic"/>
              <a:sym typeface="Century Gothic"/>
            </a:endParaRPr>
          </a:p>
        </p:txBody>
      </p:sp>
      <p:graphicFrame>
        <p:nvGraphicFramePr>
          <p:cNvPr id="4" name="Table 3">
            <a:extLst>
              <a:ext uri="{FF2B5EF4-FFF2-40B4-BE49-F238E27FC236}">
                <a16:creationId xmlns:a16="http://schemas.microsoft.com/office/drawing/2014/main" id="{E86CCDFF-168C-D641-99D7-B5C411563371}"/>
              </a:ext>
            </a:extLst>
          </p:cNvPr>
          <p:cNvGraphicFramePr>
            <a:graphicFrameLocks noGrp="1"/>
          </p:cNvGraphicFramePr>
          <p:nvPr>
            <p:extLst>
              <p:ext uri="{D42A27DB-BD31-4B8C-83A1-F6EECF244321}">
                <p14:modId xmlns:p14="http://schemas.microsoft.com/office/powerpoint/2010/main" val="479276028"/>
              </p:ext>
            </p:extLst>
          </p:nvPr>
        </p:nvGraphicFramePr>
        <p:xfrm>
          <a:off x="298056" y="861975"/>
          <a:ext cx="8534293" cy="3071688"/>
        </p:xfrm>
        <a:graphic>
          <a:graphicData uri="http://schemas.openxmlformats.org/drawingml/2006/table">
            <a:tbl>
              <a:tblPr firstRow="1" firstCol="1" bandRow="1"/>
              <a:tblGrid>
                <a:gridCol w="1188789">
                  <a:extLst>
                    <a:ext uri="{9D8B030D-6E8A-4147-A177-3AD203B41FA5}">
                      <a16:colId xmlns:a16="http://schemas.microsoft.com/office/drawing/2014/main" val="1336234357"/>
                    </a:ext>
                  </a:extLst>
                </a:gridCol>
                <a:gridCol w="1097604">
                  <a:extLst>
                    <a:ext uri="{9D8B030D-6E8A-4147-A177-3AD203B41FA5}">
                      <a16:colId xmlns:a16="http://schemas.microsoft.com/office/drawing/2014/main" val="1920580231"/>
                    </a:ext>
                  </a:extLst>
                </a:gridCol>
                <a:gridCol w="1097604">
                  <a:extLst>
                    <a:ext uri="{9D8B030D-6E8A-4147-A177-3AD203B41FA5}">
                      <a16:colId xmlns:a16="http://schemas.microsoft.com/office/drawing/2014/main" val="3050970728"/>
                    </a:ext>
                  </a:extLst>
                </a:gridCol>
                <a:gridCol w="1097604">
                  <a:extLst>
                    <a:ext uri="{9D8B030D-6E8A-4147-A177-3AD203B41FA5}">
                      <a16:colId xmlns:a16="http://schemas.microsoft.com/office/drawing/2014/main" val="1280543753"/>
                    </a:ext>
                  </a:extLst>
                </a:gridCol>
                <a:gridCol w="4052692">
                  <a:extLst>
                    <a:ext uri="{9D8B030D-6E8A-4147-A177-3AD203B41FA5}">
                      <a16:colId xmlns:a16="http://schemas.microsoft.com/office/drawing/2014/main" val="3164474999"/>
                    </a:ext>
                  </a:extLst>
                </a:gridCol>
              </a:tblGrid>
              <a:tr h="83904">
                <a:tc>
                  <a:txBody>
                    <a:bodyPr/>
                    <a:lstStyle/>
                    <a:p>
                      <a:pPr marL="0" marR="0" algn="l">
                        <a:spcBef>
                          <a:spcPts val="0"/>
                        </a:spcBef>
                        <a:spcAft>
                          <a:spcPts val="0"/>
                        </a:spcAft>
                      </a:pPr>
                      <a:r>
                        <a:rPr lang="en-US" sz="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Customer_ID</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E1F2"/>
                    </a:solidFill>
                  </a:tcPr>
                </a:tc>
                <a:tc>
                  <a:txBody>
                    <a:bodyPr/>
                    <a:lstStyle/>
                    <a:p>
                      <a:pPr marL="0" marR="0" algn="l">
                        <a:spcBef>
                          <a:spcPts val="0"/>
                        </a:spcBef>
                        <a:spcAft>
                          <a:spcPts val="0"/>
                        </a:spcAft>
                      </a:pPr>
                      <a:r>
                        <a:rPr lang="en-US" sz="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Sentiment</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E1F2"/>
                    </a:solidFill>
                  </a:tcPr>
                </a:tc>
                <a:tc>
                  <a:txBody>
                    <a:bodyPr/>
                    <a:lstStyle/>
                    <a:p>
                      <a:pPr marL="0" marR="0" algn="l">
                        <a:spcBef>
                          <a:spcPts val="0"/>
                        </a:spcBef>
                        <a:spcAft>
                          <a:spcPts val="0"/>
                        </a:spcAft>
                      </a:pPr>
                      <a:r>
                        <a:rPr lang="en-US" sz="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Priority</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E1F2"/>
                    </a:solidFill>
                  </a:tcPr>
                </a:tc>
                <a:tc>
                  <a:txBody>
                    <a:bodyPr/>
                    <a:lstStyle/>
                    <a:p>
                      <a:pPr marL="0" marR="0" algn="l">
                        <a:spcBef>
                          <a:spcPts val="0"/>
                        </a:spcBef>
                        <a:spcAft>
                          <a:spcPts val="0"/>
                        </a:spcAft>
                      </a:pPr>
                      <a:r>
                        <a:rPr lang="en-US" sz="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Tags</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E1F2"/>
                    </a:solidFill>
                  </a:tcPr>
                </a:tc>
                <a:tc>
                  <a:txBody>
                    <a:bodyPr/>
                    <a:lstStyle/>
                    <a:p>
                      <a:pPr marL="0" marR="0" algn="l">
                        <a:spcBef>
                          <a:spcPts val="0"/>
                        </a:spcBef>
                        <a:spcAft>
                          <a:spcPts val="0"/>
                        </a:spcAft>
                      </a:pPr>
                      <a:r>
                        <a:rPr lang="en-US" sz="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First Response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009664875"/>
                  </a:ext>
                </a:extLst>
              </a:tr>
              <a:tr h="235987">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Cust2024-001</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Food Quality</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wonderful feedback! We're thrilled to hear that you enjoyed your dining experience with us.</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719297"/>
                  </a:ext>
                </a:extLst>
              </a:tr>
              <a:tr h="314649">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Cust2024-002</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Neutral</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Medium</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Food Quality, Overall Experience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feedback. We'll strive to make improvements and hope to exceed your expectations next time.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3139223"/>
                  </a:ext>
                </a:extLst>
              </a:tr>
              <a:tr h="314649">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Cust2024-003</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Food Quality, Overall Experience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wonderful feedback! We're thrilled to hear that you enjoyed your dining experience with us.</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049334"/>
                  </a:ext>
                </a:extLst>
              </a:tr>
              <a:tr h="314649">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Cust2024-004</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Food Quality, Overall Experience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We're sorry to hear about your disappointing experience. Your feedback helps us identify areas that need improvement.</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6129366"/>
                  </a:ext>
                </a:extLst>
              </a:tr>
              <a:tr h="235987">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Cust2024-005</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Food Quality</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wonderful feedback! We're thrilled to hear that you enjoyed your dining experience with us.</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1939163"/>
                  </a:ext>
                </a:extLst>
              </a:tr>
              <a:tr h="235987">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Cust2024-006</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Neutral</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r>
                        <a:rPr lang="en-US" sz="800" dirty="0">
                          <a:effectLst/>
                          <a:latin typeface="Calibri" panose="020F0502020204030204" pitchFamily="34" charset="0"/>
                          <a:cs typeface="Times New Roman" panose="02020603050405020304" pitchFamily="18" charset="0"/>
                        </a:rPr>
                        <a:t>N/A</a:t>
                      </a: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feedback. We'll strive to make improvements and hope to exceed your expectations next time.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8343519"/>
                  </a:ext>
                </a:extLst>
              </a:tr>
              <a:tr h="471972">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Cust2024-007</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Neutral</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Food Quality, Service, Ambiance, Overall Experience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feedback. We'll strive to make improvements and hope to exceed your expectations next time.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9689991"/>
                  </a:ext>
                </a:extLst>
              </a:tr>
              <a:tr h="235987">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Cust2024-008</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Neutral</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Medium</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Food Quality</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feedback. We'll strive to make improvements and hope to exceed your expectations next time.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2259149"/>
                  </a:ext>
                </a:extLst>
              </a:tr>
              <a:tr h="314649">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Cust2024-009</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Food Quality, Service, Ambiance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We're sorry to hear about your disappointing experience. Your feedback helps us identify areas that need improvement.</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0710621"/>
                  </a:ext>
                </a:extLst>
              </a:tr>
              <a:tr h="235987">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Cust2024-010</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Food Quality, Service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We're sorry to hear about your disappointing experience. Your feedback helps us identify areas that need improvement.</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365" marR="32365"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0176098"/>
                  </a:ext>
                </a:extLst>
              </a:tr>
            </a:tbl>
          </a:graphicData>
        </a:graphic>
      </p:graphicFrame>
    </p:spTree>
    <p:extLst>
      <p:ext uri="{BB962C8B-B14F-4D97-AF65-F5344CB8AC3E}">
        <p14:creationId xmlns:p14="http://schemas.microsoft.com/office/powerpoint/2010/main" val="2586166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Using One-shot Prompting and the structure of the Prompt</a:t>
            </a:r>
            <a:endParaRPr dirty="0">
              <a:solidFill>
                <a:schemeClr val="lt2"/>
              </a:solidFill>
              <a:latin typeface="Century Gothic"/>
              <a:ea typeface="Century Gothic"/>
              <a:cs typeface="Century Gothic"/>
              <a:sym typeface="Century Gothic"/>
            </a:endParaRPr>
          </a:p>
        </p:txBody>
      </p:sp>
      <p:sp>
        <p:nvSpPr>
          <p:cNvPr id="170" name="Google Shape;170;p3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indent="0">
              <a:buClr>
                <a:schemeClr val="dk1"/>
              </a:buClr>
              <a:buSzPts val="1400"/>
              <a:buNone/>
            </a:pPr>
            <a:r>
              <a:rPr lang="en-US" sz="1400" dirty="0">
                <a:solidFill>
                  <a:schemeClr val="dk1"/>
                </a:solidFill>
                <a:latin typeface="Century Gothic"/>
                <a:ea typeface="Century Gothic"/>
                <a:cs typeface="Century Gothic"/>
                <a:sym typeface="Century Gothic"/>
              </a:rPr>
              <a:t>We will try with the Out-shot prompt and see the response from Microsoft Copilot.</a:t>
            </a:r>
          </a:p>
          <a:p>
            <a:pPr marL="139700" lvl="0" indent="0">
              <a:buClr>
                <a:schemeClr val="dk1"/>
              </a:buClr>
              <a:buSzPts val="1400"/>
              <a:buNone/>
            </a:pPr>
            <a:endParaRPr lang="en-US" sz="1400" b="1" dirty="0">
              <a:solidFill>
                <a:schemeClr val="dk1"/>
              </a:solidFill>
              <a:latin typeface="Century Gothic"/>
              <a:ea typeface="Century Gothic"/>
              <a:cs typeface="Century Gothic"/>
              <a:sym typeface="Century Gothic"/>
            </a:endParaRPr>
          </a:p>
          <a:p>
            <a:pPr marL="139700" lvl="0" indent="0">
              <a:buClr>
                <a:schemeClr val="dk1"/>
              </a:buClr>
              <a:buSzPts val="1400"/>
              <a:buNone/>
            </a:pPr>
            <a:r>
              <a:rPr lang="en-US" sz="1400" b="1" dirty="0">
                <a:solidFill>
                  <a:schemeClr val="dk1"/>
                </a:solidFill>
                <a:latin typeface="Century Gothic"/>
                <a:ea typeface="Century Gothic"/>
                <a:cs typeface="Century Gothic"/>
                <a:sym typeface="Century Gothic"/>
              </a:rPr>
              <a:t>Task Definition:</a:t>
            </a:r>
          </a:p>
          <a:p>
            <a:pPr lvl="1" indent="-317500">
              <a:spcBef>
                <a:spcPts val="0"/>
              </a:spcBef>
              <a:buClr>
                <a:schemeClr val="dk1"/>
              </a:buClr>
              <a:buSzPts val="1400"/>
              <a:buFont typeface="Century Gothic"/>
              <a:buChar char="●"/>
            </a:pPr>
            <a:r>
              <a:rPr lang="en-US" sz="1200" dirty="0">
                <a:solidFill>
                  <a:schemeClr val="dk1"/>
                </a:solidFill>
                <a:latin typeface="Century Gothic"/>
                <a:ea typeface="Century Gothic"/>
                <a:cs typeface="Century Gothic"/>
                <a:sym typeface="Century Gothic"/>
              </a:rPr>
              <a:t>Your task is to write a summary of the customer experience in a restaurant</a:t>
            </a:r>
          </a:p>
          <a:p>
            <a:pPr marL="596900" lvl="1" indent="0">
              <a:spcBef>
                <a:spcPts val="0"/>
              </a:spcBef>
              <a:buClr>
                <a:schemeClr val="dk1"/>
              </a:buClr>
              <a:buSzPts val="1400"/>
              <a:buNone/>
            </a:pPr>
            <a:endParaRPr lang="en-US" sz="1200" b="1" dirty="0">
              <a:solidFill>
                <a:schemeClr val="dk1"/>
              </a:solidFill>
              <a:latin typeface="Century Gothic"/>
              <a:sym typeface="Century Gothic"/>
            </a:endParaRPr>
          </a:p>
          <a:p>
            <a:pPr marL="139700" indent="0">
              <a:buClr>
                <a:schemeClr val="dk1"/>
              </a:buClr>
              <a:buSzPts val="1400"/>
              <a:buNone/>
            </a:pPr>
            <a:r>
              <a:rPr lang="en-US" sz="1400" b="1" dirty="0">
                <a:solidFill>
                  <a:schemeClr val="dk1"/>
                </a:solidFill>
                <a:latin typeface="Century Gothic"/>
                <a:sym typeface="Century Gothic"/>
              </a:rPr>
              <a:t>Structure of the Prompt</a:t>
            </a:r>
          </a:p>
          <a:p>
            <a:pPr marL="139700" indent="0">
              <a:buClr>
                <a:schemeClr val="dk1"/>
              </a:buClr>
              <a:buSzPts val="1400"/>
              <a:buNone/>
            </a:pPr>
            <a:endParaRPr lang="en-US" sz="1400" b="1" dirty="0">
              <a:solidFill>
                <a:schemeClr val="dk1"/>
              </a:solidFill>
              <a:latin typeface="Century Gothic"/>
              <a:sym typeface="Century Gothic"/>
            </a:endParaRPr>
          </a:p>
          <a:p>
            <a:pPr lvl="1" indent="-317500">
              <a:spcBef>
                <a:spcPts val="0"/>
              </a:spcBef>
              <a:buClr>
                <a:schemeClr val="dk1"/>
              </a:buClr>
              <a:buSzPts val="1400"/>
              <a:buFont typeface="Century Gothic"/>
              <a:buChar char="●"/>
            </a:pPr>
            <a:r>
              <a:rPr lang="en-US" sz="1200" dirty="0">
                <a:solidFill>
                  <a:schemeClr val="dk1"/>
                </a:solidFill>
                <a:latin typeface="Century Gothic"/>
              </a:rPr>
              <a:t>Your task is to collect all the food reviews and determine if the customer's experience with the food was positive, negative, or neutral. Look at the data file provided and put the priority as high, medium, or low. Provide the next steps. Generate customer responses based on the review sentiment. The output should be in a tabular format.</a:t>
            </a:r>
          </a:p>
          <a:p>
            <a:pPr marL="596900" lvl="1" indent="0">
              <a:spcBef>
                <a:spcPts val="0"/>
              </a:spcBef>
              <a:buClr>
                <a:schemeClr val="dk1"/>
              </a:buClr>
              <a:buSzPts val="1400"/>
              <a:buNone/>
            </a:pPr>
            <a:endParaRPr lang="en-US" sz="1200" dirty="0">
              <a:solidFill>
                <a:schemeClr val="dk1"/>
              </a:solidFill>
              <a:latin typeface="Century Gothic"/>
              <a:sym typeface="Century Gothic"/>
            </a:endParaRPr>
          </a:p>
          <a:p>
            <a:pPr marL="139700" lvl="1" indent="0">
              <a:spcBef>
                <a:spcPts val="0"/>
              </a:spcBef>
              <a:buClr>
                <a:schemeClr val="dk1"/>
              </a:buClr>
              <a:buSzPts val="1400"/>
              <a:buNone/>
            </a:pPr>
            <a:r>
              <a:rPr lang="en-US" sz="1400" b="1" dirty="0">
                <a:solidFill>
                  <a:schemeClr val="dk1"/>
                </a:solidFill>
                <a:latin typeface="Century Gothic"/>
                <a:sym typeface="Century Gothic"/>
              </a:rPr>
              <a:t>Output from Microsoft Copilot</a:t>
            </a:r>
          </a:p>
          <a:p>
            <a:pPr marL="1397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endParaRPr lang="en-US" sz="1400" b="1" dirty="0">
              <a:solidFill>
                <a:schemeClr val="dk1"/>
              </a:solidFill>
              <a:latin typeface="Century Gothic"/>
              <a:sym typeface="Century Gothic"/>
            </a:endParaRPr>
          </a:p>
        </p:txBody>
      </p:sp>
      <p:graphicFrame>
        <p:nvGraphicFramePr>
          <p:cNvPr id="3" name="Object 2">
            <a:extLst>
              <a:ext uri="{FF2B5EF4-FFF2-40B4-BE49-F238E27FC236}">
                <a16:creationId xmlns:a16="http://schemas.microsoft.com/office/drawing/2014/main" id="{F2E2D476-B44F-894F-AA37-819E7EA9CAAA}"/>
              </a:ext>
            </a:extLst>
          </p:cNvPr>
          <p:cNvGraphicFramePr>
            <a:graphicFrameLocks noChangeAspect="1"/>
          </p:cNvGraphicFramePr>
          <p:nvPr>
            <p:extLst>
              <p:ext uri="{D42A27DB-BD31-4B8C-83A1-F6EECF244321}">
                <p14:modId xmlns:p14="http://schemas.microsoft.com/office/powerpoint/2010/main" val="828296200"/>
              </p:ext>
            </p:extLst>
          </p:nvPr>
        </p:nvGraphicFramePr>
        <p:xfrm>
          <a:off x="3552250" y="3959175"/>
          <a:ext cx="965200" cy="609600"/>
        </p:xfrm>
        <a:graphic>
          <a:graphicData uri="http://schemas.openxmlformats.org/presentationml/2006/ole">
            <mc:AlternateContent xmlns:mc="http://schemas.openxmlformats.org/markup-compatibility/2006">
              <mc:Choice xmlns:v="urn:schemas-microsoft-com:vml" Requires="v">
                <p:oleObj spid="_x0000_s2140" name="Document" showAsIcon="1" r:id="rId4" imgW="965200" imgH="609600" progId="Word.Document.12">
                  <p:embed/>
                </p:oleObj>
              </mc:Choice>
              <mc:Fallback>
                <p:oleObj name="Document" showAsIcon="1" r:id="rId4" imgW="965200" imgH="609600" progId="Word.Document.12">
                  <p:embed/>
                  <p:pic>
                    <p:nvPicPr>
                      <p:cNvPr id="0" name=""/>
                      <p:cNvPicPr/>
                      <p:nvPr/>
                    </p:nvPicPr>
                    <p:blipFill>
                      <a:blip r:embed="rId5"/>
                      <a:stretch>
                        <a:fillRect/>
                      </a:stretch>
                    </p:blipFill>
                    <p:spPr>
                      <a:xfrm>
                        <a:off x="3552250" y="3959175"/>
                        <a:ext cx="965200" cy="609600"/>
                      </a:xfrm>
                      <a:prstGeom prst="rect">
                        <a:avLst/>
                      </a:prstGeom>
                    </p:spPr>
                  </p:pic>
                </p:oleObj>
              </mc:Fallback>
            </mc:AlternateContent>
          </a:graphicData>
        </a:graphic>
      </p:graphicFrame>
    </p:spTree>
    <p:extLst>
      <p:ext uri="{BB962C8B-B14F-4D97-AF65-F5344CB8AC3E}">
        <p14:creationId xmlns:p14="http://schemas.microsoft.com/office/powerpoint/2010/main" val="743287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One-shot prompt</a:t>
            </a:r>
            <a:endParaRPr dirty="0">
              <a:solidFill>
                <a:schemeClr val="lt2"/>
              </a:solidFill>
              <a:latin typeface="Century Gothic"/>
              <a:ea typeface="Century Gothic"/>
              <a:cs typeface="Century Gothic"/>
              <a:sym typeface="Century Gothic"/>
            </a:endParaRPr>
          </a:p>
        </p:txBody>
      </p:sp>
      <p:graphicFrame>
        <p:nvGraphicFramePr>
          <p:cNvPr id="2" name="Table 1">
            <a:extLst>
              <a:ext uri="{FF2B5EF4-FFF2-40B4-BE49-F238E27FC236}">
                <a16:creationId xmlns:a16="http://schemas.microsoft.com/office/drawing/2014/main" id="{62246F86-D072-1E41-85E9-35C9EA856F57}"/>
              </a:ext>
            </a:extLst>
          </p:cNvPr>
          <p:cNvGraphicFramePr>
            <a:graphicFrameLocks noGrp="1"/>
          </p:cNvGraphicFramePr>
          <p:nvPr>
            <p:extLst>
              <p:ext uri="{D42A27DB-BD31-4B8C-83A1-F6EECF244321}">
                <p14:modId xmlns:p14="http://schemas.microsoft.com/office/powerpoint/2010/main" val="1965961598"/>
              </p:ext>
            </p:extLst>
          </p:nvPr>
        </p:nvGraphicFramePr>
        <p:xfrm>
          <a:off x="4126937" y="768870"/>
          <a:ext cx="4855202" cy="4037801"/>
        </p:xfrm>
        <a:graphic>
          <a:graphicData uri="http://schemas.openxmlformats.org/drawingml/2006/table">
            <a:tbl>
              <a:tblPr firstRow="1" firstCol="1" bandRow="1"/>
              <a:tblGrid>
                <a:gridCol w="424772">
                  <a:extLst>
                    <a:ext uri="{9D8B030D-6E8A-4147-A177-3AD203B41FA5}">
                      <a16:colId xmlns:a16="http://schemas.microsoft.com/office/drawing/2014/main" val="3268166764"/>
                    </a:ext>
                  </a:extLst>
                </a:gridCol>
                <a:gridCol w="1032231">
                  <a:extLst>
                    <a:ext uri="{9D8B030D-6E8A-4147-A177-3AD203B41FA5}">
                      <a16:colId xmlns:a16="http://schemas.microsoft.com/office/drawing/2014/main" val="4265560441"/>
                    </a:ext>
                  </a:extLst>
                </a:gridCol>
                <a:gridCol w="634564">
                  <a:extLst>
                    <a:ext uri="{9D8B030D-6E8A-4147-A177-3AD203B41FA5}">
                      <a16:colId xmlns:a16="http://schemas.microsoft.com/office/drawing/2014/main" val="4077547050"/>
                    </a:ext>
                  </a:extLst>
                </a:gridCol>
                <a:gridCol w="416698">
                  <a:extLst>
                    <a:ext uri="{9D8B030D-6E8A-4147-A177-3AD203B41FA5}">
                      <a16:colId xmlns:a16="http://schemas.microsoft.com/office/drawing/2014/main" val="964103073"/>
                    </a:ext>
                  </a:extLst>
                </a:gridCol>
                <a:gridCol w="2346937">
                  <a:extLst>
                    <a:ext uri="{9D8B030D-6E8A-4147-A177-3AD203B41FA5}">
                      <a16:colId xmlns:a16="http://schemas.microsoft.com/office/drawing/2014/main" val="4064043209"/>
                    </a:ext>
                  </a:extLst>
                </a:gridCol>
              </a:tblGrid>
              <a:tr h="244715">
                <a:tc>
                  <a:txBody>
                    <a:bodyPr/>
                    <a:lstStyle/>
                    <a:p>
                      <a:pPr marL="0" marR="0" algn="ctr">
                        <a:spcBef>
                          <a:spcPts val="0"/>
                        </a:spcBef>
                        <a:spcAft>
                          <a:spcPts val="0"/>
                        </a:spcAft>
                      </a:pPr>
                      <a:r>
                        <a:rPr lang="en-US" sz="7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Customer ID</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marL="0" marR="0" algn="ctr">
                        <a:spcBef>
                          <a:spcPts val="0"/>
                        </a:spcBef>
                        <a:spcAft>
                          <a:spcPts val="0"/>
                        </a:spcAft>
                      </a:pPr>
                      <a:r>
                        <a:rPr lang="en-US" sz="7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Review</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marL="0" marR="0" algn="ctr">
                        <a:spcBef>
                          <a:spcPts val="0"/>
                        </a:spcBef>
                        <a:spcAft>
                          <a:spcPts val="0"/>
                        </a:spcAft>
                      </a:pPr>
                      <a:r>
                        <a:rPr lang="en-US" sz="7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Food Experience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marL="0" marR="0" algn="ctr">
                        <a:spcBef>
                          <a:spcPts val="0"/>
                        </a:spcBef>
                        <a:spcAft>
                          <a:spcPts val="0"/>
                        </a:spcAft>
                      </a:pPr>
                      <a:r>
                        <a:rPr lang="en-US" sz="7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Priority</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marL="0" marR="0" algn="ctr">
                        <a:spcBef>
                          <a:spcPts val="0"/>
                        </a:spcBef>
                        <a:spcAft>
                          <a:spcPts val="0"/>
                        </a:spcAft>
                      </a:pPr>
                      <a:r>
                        <a:rPr lang="en-US" sz="7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Customer Response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797254579"/>
                  </a:ext>
                </a:extLst>
              </a:tr>
              <a:tr h="367073">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Cust2024-001</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Praised the flavors and specific dishes like the steak and tiramisu.</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wonderful feedback! We’re thrilled to hear that you enjoyed your dining experience with us. We look forward to serving you again soon!</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2950589"/>
                  </a:ext>
                </a:extLst>
              </a:tr>
              <a:tr h="367073">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Cust2024-002</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Enjoyed some dishes but had some that were below expectations.</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Neutral</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Medium</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feedback. We’re glad you enjoyed some of our dishes, but we’re sorry to hear that others did not meet your expectations. We will work on improving our consistency.</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1702150"/>
                  </a:ext>
                </a:extLst>
              </a:tr>
              <a:tr h="367073">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Cust2024-003</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Highlighted exquisite food and specific dishes like fresh oysters and scallops.</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fantastic review! We’re delighted to hear that you enjoyed your meal and appreciated the attention to detail. We hope to welcome you back soon!</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7609942"/>
                  </a:ext>
                </a:extLst>
              </a:tr>
              <a:tr h="367073">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Cust2024-004</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Bland flavors.</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We’re sorry to hear about your negative experience. Your feedback is important to us, and we will address these issues with our kitchen team to ensure improvements are made.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5617280"/>
                  </a:ext>
                </a:extLst>
              </a:tr>
              <a:tr h="489430">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Cust2024-005</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Outstanding food and generous portions, specific dishes like bruschetta and grilled salmon.</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glowing review! We’re thrilled to hear that we exceeded your expectations and that you enjoyed your meal. We look forward to serving you again soon!</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8507472"/>
                  </a:ext>
                </a:extLst>
              </a:tr>
              <a:tr h="244715">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Cust2024-006</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Contains irrelevant text.</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Neutral</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input. If you have any specific feedback about your dining experience, please let us know.</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1053006"/>
                  </a:ext>
                </a:extLst>
              </a:tr>
              <a:tr h="489430">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Cust2024-007</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Consistently delicious food and signature dish.</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continued patronage and wonderful feedback! We’re delighted to hear that you consistently enjoy your dining experiences with us. We look forward to welcoming you back soon!</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1191029"/>
                  </a:ext>
                </a:extLst>
              </a:tr>
              <a:tr h="367073">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Cust2024-008</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Satisfactory food but lacking standout dishes.</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Neutral</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Medium</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Thank you for your feedback. We’re glad you found our menu satisfactory, but we’re sorry to hear that some dishes did not stand out. We will work on enhancing the flavors of our dishes.</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4346876"/>
                  </a:ext>
                </a:extLst>
              </a:tr>
              <a:tr h="367073">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Cust2024-009</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Average food quality.</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We’re sorry to hear about your disappointing experience. Your feedback is important to us, and we will 3xeaddress these issues with our staff to ensure improvements are made.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7414672"/>
                  </a:ext>
                </a:extLst>
              </a:tr>
              <a:tr h="367073">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Cust2024-010</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Specific dishes lacked flavor and were overcooked.</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7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We’re sorry to hear about your disappointing experience. Your feedback is important to us, and we will address these issues with our staff to ensure improvements are made.</a:t>
                      </a:r>
                      <a:endParaRPr lang="en-US" sz="700" dirty="0">
                        <a:effectLst/>
                        <a:latin typeface="Calibri" panose="020F0502020204030204" pitchFamily="34" charset="0"/>
                        <a:ea typeface="Calibri" panose="020F0502020204030204" pitchFamily="34" charset="0"/>
                        <a:cs typeface="Calibri" panose="020F0502020204030204" pitchFamily="34" charset="0"/>
                      </a:endParaRPr>
                    </a:p>
                  </a:txBody>
                  <a:tcPr marL="28236" marR="282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7591933"/>
                  </a:ext>
                </a:extLst>
              </a:tr>
            </a:tbl>
          </a:graphicData>
        </a:graphic>
      </p:graphicFrame>
      <p:sp>
        <p:nvSpPr>
          <p:cNvPr id="3" name="Rectangle 1">
            <a:extLst>
              <a:ext uri="{FF2B5EF4-FFF2-40B4-BE49-F238E27FC236}">
                <a16:creationId xmlns:a16="http://schemas.microsoft.com/office/drawing/2014/main" id="{6F1566FD-AEE7-E54B-84E4-32457FDB1179}"/>
              </a:ext>
            </a:extLst>
          </p:cNvPr>
          <p:cNvSpPr>
            <a:spLocks noGrp="1" noChangeArrowheads="1"/>
          </p:cNvSpPr>
          <p:nvPr>
            <p:ph type="body" idx="1"/>
          </p:nvPr>
        </p:nvSpPr>
        <p:spPr bwMode="auto">
          <a:xfrm>
            <a:off x="145906" y="261041"/>
            <a:ext cx="3981031"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100" dirty="0">
              <a:solidFill>
                <a:schemeClr val="dk1"/>
              </a:solidFill>
              <a:latin typeface="Century Gothic"/>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100" dirty="0">
              <a:solidFill>
                <a:schemeClr val="dk1"/>
              </a:solidFill>
              <a:latin typeface="Century Gothic"/>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100" dirty="0">
              <a:solidFill>
                <a:schemeClr val="dk1"/>
              </a:solidFill>
              <a:latin typeface="Century Gothic"/>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dirty="0">
                <a:solidFill>
                  <a:schemeClr val="dk1"/>
                </a:solidFill>
                <a:latin typeface="Century Gothic"/>
              </a:rPr>
              <a:t>Here is the analysis of customer reviews focusing on food experiences,  with priorities and suggested customer responses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dirty="0">
                <a:solidFill>
                  <a:schemeClr val="dk1"/>
                </a:solidFill>
                <a:latin typeface="Century Gothic"/>
              </a:rPr>
              <a:t>Customer Food Review Analysis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100" dirty="0">
              <a:solidFill>
                <a:schemeClr val="dk1"/>
              </a:solidFill>
              <a:latin typeface="Century Gothic"/>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b="1" dirty="0">
                <a:solidFill>
                  <a:schemeClr val="dk1"/>
                </a:solidFill>
                <a:latin typeface="Century Gothic"/>
              </a:rPr>
              <a:t>Next Steps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sz="1100" b="1" dirty="0">
                <a:solidFill>
                  <a:schemeClr val="dk1"/>
                </a:solidFill>
                <a:latin typeface="Century Gothic"/>
              </a:rPr>
              <a:t>Address Negative Feedback: </a:t>
            </a:r>
            <a:r>
              <a:rPr lang="en-US" altLang="en-US" sz="1100" dirty="0">
                <a:solidFill>
                  <a:schemeClr val="dk1"/>
                </a:solidFill>
                <a:latin typeface="Century Gothic"/>
              </a:rPr>
              <a:t>Focus on the reviews with a Negative sentiment and Low priority. Communicate with the kitchen team to improve the consistency and quality of the dishes mentioned.</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100" dirty="0">
              <a:solidFill>
                <a:schemeClr val="dk1"/>
              </a:solidFill>
              <a:latin typeface="Century Gothic"/>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100" b="1" dirty="0">
                <a:solidFill>
                  <a:schemeClr val="dk1"/>
                </a:solidFill>
                <a:latin typeface="Century Gothic"/>
              </a:rPr>
              <a:t>2.Enhance Consistency: </a:t>
            </a:r>
            <a:r>
              <a:rPr lang="en-US" altLang="en-US" sz="1100" dirty="0">
                <a:solidFill>
                  <a:schemeClr val="dk1"/>
                </a:solidFill>
                <a:latin typeface="Century Gothic"/>
              </a:rPr>
              <a:t>For Neutral reviews with a Medium priority, work on enhancing the consistency of the dishes and seek feedback from customers to ensure improvements are noticed.</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100" dirty="0">
              <a:solidFill>
                <a:schemeClr val="dk1"/>
              </a:solidFill>
              <a:latin typeface="Century Gothic"/>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100" b="1" dirty="0">
                <a:solidFill>
                  <a:schemeClr val="dk1"/>
                </a:solidFill>
                <a:latin typeface="Century Gothic"/>
              </a:rPr>
              <a:t>3.Acknowledge Positive Feedback: </a:t>
            </a:r>
            <a:r>
              <a:rPr lang="en-US" altLang="en-US" sz="1100" dirty="0">
                <a:solidFill>
                  <a:schemeClr val="dk1"/>
                </a:solidFill>
                <a:latin typeface="Century Gothic"/>
              </a:rPr>
              <a:t>Continue to provide excellent service and food quality to maintain and build on the positive reviews. Engage with customers who left positive feedback to express gratitude and encourage repeat visits.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100" dirty="0">
              <a:solidFill>
                <a:schemeClr val="dk1"/>
              </a:solidFill>
              <a:latin typeface="Century Gothic"/>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100" b="1" dirty="0">
                <a:solidFill>
                  <a:schemeClr val="dk1"/>
                </a:solidFill>
                <a:latin typeface="Century Gothic"/>
              </a:rPr>
              <a:t>4.Follow-Up: </a:t>
            </a:r>
            <a:r>
              <a:rPr lang="en-US" altLang="en-US" sz="1100" dirty="0">
                <a:solidFill>
                  <a:schemeClr val="dk1"/>
                </a:solidFill>
                <a:latin typeface="Century Gothic"/>
              </a:rPr>
              <a:t>Consider reaching out to customers who provided feedback to inform them of the steps taken based on their reviews and invite them to experience the improvements firsthand.</a:t>
            </a:r>
          </a:p>
        </p:txBody>
      </p:sp>
    </p:spTree>
    <p:extLst>
      <p:ext uri="{BB962C8B-B14F-4D97-AF65-F5344CB8AC3E}">
        <p14:creationId xmlns:p14="http://schemas.microsoft.com/office/powerpoint/2010/main" val="2841854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Using Chain-of-Thought Prompting and the structure of the Prompt</a:t>
            </a:r>
            <a:endParaRPr dirty="0">
              <a:solidFill>
                <a:schemeClr val="lt2"/>
              </a:solidFill>
              <a:latin typeface="Century Gothic"/>
              <a:ea typeface="Century Gothic"/>
              <a:cs typeface="Century Gothic"/>
              <a:sym typeface="Century Gothic"/>
            </a:endParaRPr>
          </a:p>
        </p:txBody>
      </p:sp>
      <p:sp>
        <p:nvSpPr>
          <p:cNvPr id="170" name="Google Shape;170;p38"/>
          <p:cNvSpPr txBox="1">
            <a:spLocks noGrp="1"/>
          </p:cNvSpPr>
          <p:nvPr>
            <p:ph type="body" idx="1"/>
          </p:nvPr>
        </p:nvSpPr>
        <p:spPr>
          <a:xfrm>
            <a:off x="202550" y="1017046"/>
            <a:ext cx="8629800" cy="3706800"/>
          </a:xfrm>
          <a:prstGeom prst="rect">
            <a:avLst/>
          </a:prstGeom>
          <a:noFill/>
          <a:ln>
            <a:noFill/>
          </a:ln>
        </p:spPr>
        <p:txBody>
          <a:bodyPr spcFirstLastPara="1" wrap="square" lIns="91425" tIns="91425" rIns="91425" bIns="91425" anchor="t" anchorCtr="0">
            <a:noAutofit/>
          </a:bodyPr>
          <a:lstStyle/>
          <a:p>
            <a:pPr marL="139700" indent="0">
              <a:buClr>
                <a:schemeClr val="dk1"/>
              </a:buClr>
              <a:buSzPts val="1400"/>
              <a:buNone/>
            </a:pPr>
            <a:r>
              <a:rPr lang="en-US" sz="1200" dirty="0">
                <a:solidFill>
                  <a:schemeClr val="dk1"/>
                </a:solidFill>
                <a:latin typeface="Century Gothic"/>
                <a:ea typeface="Century Gothic"/>
                <a:cs typeface="Century Gothic"/>
                <a:sym typeface="Century Gothic"/>
              </a:rPr>
              <a:t>We will try the Chain-of-Thought prompting and see the response from Microsoft Copilot.</a:t>
            </a:r>
          </a:p>
          <a:p>
            <a:pPr marL="139700" lvl="0" indent="0">
              <a:buClr>
                <a:schemeClr val="dk1"/>
              </a:buClr>
              <a:buSzPts val="1400"/>
              <a:buNone/>
            </a:pPr>
            <a:endParaRPr lang="en-US" sz="1400" b="1" dirty="0">
              <a:solidFill>
                <a:schemeClr val="dk1"/>
              </a:solidFill>
              <a:latin typeface="Century Gothic"/>
              <a:ea typeface="Century Gothic"/>
              <a:cs typeface="Century Gothic"/>
              <a:sym typeface="Century Gothic"/>
            </a:endParaRPr>
          </a:p>
          <a:p>
            <a:pPr marL="139700" lvl="0" indent="0">
              <a:buClr>
                <a:schemeClr val="dk1"/>
              </a:buClr>
              <a:buSzPts val="1400"/>
              <a:buNone/>
            </a:pPr>
            <a:r>
              <a:rPr lang="en-US" sz="1400" b="1" dirty="0">
                <a:solidFill>
                  <a:schemeClr val="dk1"/>
                </a:solidFill>
                <a:latin typeface="Century Gothic"/>
                <a:ea typeface="Century Gothic"/>
                <a:cs typeface="Century Gothic"/>
                <a:sym typeface="Century Gothic"/>
              </a:rPr>
              <a:t>Task Definition:</a:t>
            </a:r>
          </a:p>
          <a:p>
            <a:pPr lvl="1" indent="-317500">
              <a:spcBef>
                <a:spcPts val="0"/>
              </a:spcBef>
              <a:buClr>
                <a:schemeClr val="dk1"/>
              </a:buClr>
              <a:buSzPts val="1400"/>
              <a:buFont typeface="Century Gothic"/>
              <a:buChar char="●"/>
            </a:pPr>
            <a:r>
              <a:rPr lang="en-US" sz="1200" dirty="0">
                <a:solidFill>
                  <a:schemeClr val="dk1"/>
                </a:solidFill>
                <a:latin typeface="Century Gothic"/>
              </a:rPr>
              <a:t>The task would be to review each customer's review and determine each customer's sentiment and what led to the experience. </a:t>
            </a:r>
          </a:p>
          <a:p>
            <a:pPr marL="596900" lvl="1" indent="0">
              <a:spcBef>
                <a:spcPts val="0"/>
              </a:spcBef>
              <a:buClr>
                <a:schemeClr val="dk1"/>
              </a:buClr>
              <a:buSzPts val="1400"/>
              <a:buNone/>
            </a:pPr>
            <a:endParaRPr lang="en-US" sz="1200" dirty="0">
              <a:solidFill>
                <a:schemeClr val="dk1"/>
              </a:solidFill>
              <a:latin typeface="Century Gothic"/>
              <a:sym typeface="Century Gothic"/>
            </a:endParaRPr>
          </a:p>
          <a:p>
            <a:pPr marL="139700" indent="0">
              <a:buClr>
                <a:schemeClr val="dk1"/>
              </a:buClr>
              <a:buSzPts val="1400"/>
              <a:buNone/>
            </a:pPr>
            <a:r>
              <a:rPr lang="en-US" sz="1400" b="1" dirty="0">
                <a:solidFill>
                  <a:schemeClr val="dk1"/>
                </a:solidFill>
                <a:latin typeface="Century Gothic"/>
                <a:sym typeface="Century Gothic"/>
              </a:rPr>
              <a:t>Structure of the Prompt 1:</a:t>
            </a:r>
          </a:p>
          <a:p>
            <a:pPr lvl="1" indent="-317500">
              <a:spcBef>
                <a:spcPts val="0"/>
              </a:spcBef>
              <a:buClr>
                <a:schemeClr val="dk1"/>
              </a:buClr>
              <a:buSzPts val="1400"/>
              <a:buFont typeface="Century Gothic"/>
              <a:buChar char="●"/>
            </a:pPr>
            <a:r>
              <a:rPr lang="en-US" sz="1200" dirty="0">
                <a:solidFill>
                  <a:schemeClr val="dk1"/>
                </a:solidFill>
                <a:latin typeface="Century Gothic"/>
                <a:sym typeface="Century Gothic"/>
              </a:rPr>
              <a:t>Create a review analysis of the customer feedback to see if it is positive, negative, or neutral.</a:t>
            </a:r>
          </a:p>
          <a:p>
            <a:pPr marL="1397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r>
              <a:rPr lang="en-US" sz="1400" b="1" dirty="0">
                <a:solidFill>
                  <a:schemeClr val="dk1"/>
                </a:solidFill>
                <a:latin typeface="Century Gothic"/>
                <a:sym typeface="Century Gothic"/>
              </a:rPr>
              <a:t>Prompt 1 Output </a:t>
            </a:r>
          </a:p>
          <a:p>
            <a:pPr marL="133350" indent="0">
              <a:buNone/>
            </a:pPr>
            <a:r>
              <a:rPr lang="en-US" sz="1000" dirty="0">
                <a:solidFill>
                  <a:schemeClr val="dk1"/>
                </a:solidFill>
                <a:latin typeface="Century Gothic"/>
              </a:rPr>
              <a:t>Overall, the reviews present a mix of feedback with a slight inclination towards positive experiences. Here's the breakdown:</a:t>
            </a:r>
          </a:p>
          <a:p>
            <a:pPr>
              <a:buFont typeface="Arial" panose="020B0604020202020204" pitchFamily="34" charset="0"/>
              <a:buChar char="•"/>
            </a:pPr>
            <a:r>
              <a:rPr lang="en-US" sz="1000" dirty="0">
                <a:solidFill>
                  <a:schemeClr val="dk1"/>
                </a:solidFill>
                <a:latin typeface="Century Gothic"/>
              </a:rPr>
              <a:t>Positive: 5 reviews</a:t>
            </a:r>
          </a:p>
          <a:p>
            <a:pPr>
              <a:buFont typeface="Arial" panose="020B0604020202020204" pitchFamily="34" charset="0"/>
              <a:buChar char="•"/>
            </a:pPr>
            <a:r>
              <a:rPr lang="en-US" sz="1000" dirty="0">
                <a:solidFill>
                  <a:schemeClr val="dk1"/>
                </a:solidFill>
                <a:latin typeface="Century Gothic"/>
              </a:rPr>
              <a:t>Neutral: 2 reviews</a:t>
            </a:r>
          </a:p>
          <a:p>
            <a:pPr>
              <a:buFont typeface="Arial" panose="020B0604020202020204" pitchFamily="34" charset="0"/>
              <a:buChar char="•"/>
            </a:pPr>
            <a:r>
              <a:rPr lang="en-US" sz="1000" dirty="0">
                <a:solidFill>
                  <a:schemeClr val="dk1"/>
                </a:solidFill>
                <a:latin typeface="Century Gothic"/>
              </a:rPr>
              <a:t>Negative: 3 reviews</a:t>
            </a:r>
          </a:p>
          <a:p>
            <a:pPr marL="133350" indent="0">
              <a:buNone/>
            </a:pPr>
            <a:r>
              <a:rPr lang="en-US" sz="1000" dirty="0">
                <a:solidFill>
                  <a:schemeClr val="dk1"/>
                </a:solidFill>
                <a:latin typeface="Century Gothic"/>
              </a:rPr>
              <a:t>It seems like most customers had a good experience, but there are a few areas where improvements could be made. If there's anything specific you want to delve deeper into, feel free to let me know!</a:t>
            </a:r>
          </a:p>
          <a:p>
            <a:pPr marL="1397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endParaRPr lang="en-US" sz="1400" b="1" dirty="0">
              <a:solidFill>
                <a:schemeClr val="dk1"/>
              </a:solidFill>
              <a:latin typeface="Century Gothic"/>
              <a:sym typeface="Century Gothic"/>
            </a:endParaRPr>
          </a:p>
        </p:txBody>
      </p:sp>
    </p:spTree>
    <p:extLst>
      <p:ext uri="{BB962C8B-B14F-4D97-AF65-F5344CB8AC3E}">
        <p14:creationId xmlns:p14="http://schemas.microsoft.com/office/powerpoint/2010/main" val="2487696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8"/>
          <p:cNvSpPr txBox="1">
            <a:spLocks noGrp="1"/>
          </p:cNvSpPr>
          <p:nvPr>
            <p:ph type="title"/>
          </p:nvPr>
        </p:nvSpPr>
        <p:spPr>
          <a:xfrm>
            <a:off x="202549" y="289279"/>
            <a:ext cx="8803885"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Using Chain-of-Thought Prompting and the structure of the Prompt (Cont)</a:t>
            </a:r>
            <a:endParaRPr dirty="0">
              <a:solidFill>
                <a:schemeClr val="lt2"/>
              </a:solidFill>
              <a:latin typeface="Century Gothic"/>
              <a:ea typeface="Century Gothic"/>
              <a:cs typeface="Century Gothic"/>
              <a:sym typeface="Century Gothic"/>
            </a:endParaRPr>
          </a:p>
        </p:txBody>
      </p:sp>
      <p:sp>
        <p:nvSpPr>
          <p:cNvPr id="170" name="Google Shape;170;p38"/>
          <p:cNvSpPr txBox="1">
            <a:spLocks noGrp="1"/>
          </p:cNvSpPr>
          <p:nvPr>
            <p:ph type="body" idx="1"/>
          </p:nvPr>
        </p:nvSpPr>
        <p:spPr>
          <a:xfrm>
            <a:off x="202550" y="1017046"/>
            <a:ext cx="8629800" cy="3706800"/>
          </a:xfrm>
          <a:prstGeom prst="rect">
            <a:avLst/>
          </a:prstGeom>
          <a:noFill/>
          <a:ln>
            <a:noFill/>
          </a:ln>
        </p:spPr>
        <p:txBody>
          <a:bodyPr spcFirstLastPara="1" wrap="square" lIns="91425" tIns="91425" rIns="91425" bIns="91425" anchor="t" anchorCtr="0">
            <a:noAutofit/>
          </a:bodyPr>
          <a:lstStyle/>
          <a:p>
            <a:pPr marL="139700" indent="0">
              <a:buClr>
                <a:schemeClr val="dk1"/>
              </a:buClr>
              <a:buSzPts val="1400"/>
              <a:buNone/>
            </a:pPr>
            <a:r>
              <a:rPr lang="en-US" sz="1400" b="1" dirty="0">
                <a:solidFill>
                  <a:schemeClr val="dk1"/>
                </a:solidFill>
                <a:latin typeface="Century Gothic"/>
                <a:sym typeface="Century Gothic"/>
              </a:rPr>
              <a:t>Structure of the Prompt 2:</a:t>
            </a:r>
          </a:p>
          <a:p>
            <a:pPr lvl="1" indent="-317500">
              <a:spcBef>
                <a:spcPts val="0"/>
              </a:spcBef>
              <a:buClr>
                <a:schemeClr val="dk1"/>
              </a:buClr>
              <a:buSzPts val="1400"/>
              <a:buFont typeface="Century Gothic"/>
              <a:buChar char="●"/>
            </a:pPr>
            <a:r>
              <a:rPr lang="en-US" sz="1200" dirty="0">
                <a:solidFill>
                  <a:schemeClr val="dk1"/>
                </a:solidFill>
                <a:latin typeface="Century Gothic"/>
                <a:sym typeface="Century Gothic"/>
              </a:rPr>
              <a:t>Filter review by tags such as food, quality, service, ambiance, price, and overall experience</a:t>
            </a:r>
          </a:p>
          <a:p>
            <a:pPr marL="5969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r>
              <a:rPr lang="en-US" sz="1400" b="1" dirty="0">
                <a:solidFill>
                  <a:schemeClr val="dk1"/>
                </a:solidFill>
                <a:latin typeface="Century Gothic"/>
                <a:sym typeface="Century Gothic"/>
              </a:rPr>
              <a:t>Prompt 2 Output </a:t>
            </a:r>
          </a:p>
          <a:p>
            <a:pPr marL="1397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endParaRPr lang="en-US" sz="1400" b="1" dirty="0">
              <a:solidFill>
                <a:schemeClr val="dk1"/>
              </a:solidFill>
              <a:latin typeface="Century Gothic"/>
              <a:sym typeface="Century Gothic"/>
            </a:endParaRPr>
          </a:p>
        </p:txBody>
      </p:sp>
      <p:graphicFrame>
        <p:nvGraphicFramePr>
          <p:cNvPr id="2" name="Table 1">
            <a:extLst>
              <a:ext uri="{FF2B5EF4-FFF2-40B4-BE49-F238E27FC236}">
                <a16:creationId xmlns:a16="http://schemas.microsoft.com/office/drawing/2014/main" id="{47AAD2D9-84A2-924F-8102-C52E04817565}"/>
              </a:ext>
            </a:extLst>
          </p:cNvPr>
          <p:cNvGraphicFramePr>
            <a:graphicFrameLocks noGrp="1"/>
          </p:cNvGraphicFramePr>
          <p:nvPr>
            <p:extLst>
              <p:ext uri="{D42A27DB-BD31-4B8C-83A1-F6EECF244321}">
                <p14:modId xmlns:p14="http://schemas.microsoft.com/office/powerpoint/2010/main" val="2016561400"/>
              </p:ext>
            </p:extLst>
          </p:nvPr>
        </p:nvGraphicFramePr>
        <p:xfrm>
          <a:off x="575686" y="2032246"/>
          <a:ext cx="7200761" cy="1997589"/>
        </p:xfrm>
        <a:graphic>
          <a:graphicData uri="http://schemas.openxmlformats.org/drawingml/2006/table">
            <a:tbl>
              <a:tblPr firstRow="1" firstCol="1" bandRow="1"/>
              <a:tblGrid>
                <a:gridCol w="1728953">
                  <a:extLst>
                    <a:ext uri="{9D8B030D-6E8A-4147-A177-3AD203B41FA5}">
                      <a16:colId xmlns:a16="http://schemas.microsoft.com/office/drawing/2014/main" val="1202819420"/>
                    </a:ext>
                  </a:extLst>
                </a:gridCol>
                <a:gridCol w="1940740">
                  <a:extLst>
                    <a:ext uri="{9D8B030D-6E8A-4147-A177-3AD203B41FA5}">
                      <a16:colId xmlns:a16="http://schemas.microsoft.com/office/drawing/2014/main" val="1468834628"/>
                    </a:ext>
                  </a:extLst>
                </a:gridCol>
                <a:gridCol w="3531068">
                  <a:extLst>
                    <a:ext uri="{9D8B030D-6E8A-4147-A177-3AD203B41FA5}">
                      <a16:colId xmlns:a16="http://schemas.microsoft.com/office/drawing/2014/main" val="4247593249"/>
                    </a:ext>
                  </a:extLst>
                </a:gridCol>
              </a:tblGrid>
              <a:tr h="726396">
                <a:tc>
                  <a:txBody>
                    <a:bodyPr/>
                    <a:lstStyle/>
                    <a:p>
                      <a:pPr marL="0" marR="0">
                        <a:spcBef>
                          <a:spcPts val="0"/>
                        </a:spcBef>
                        <a:spcAft>
                          <a:spcPts val="0"/>
                        </a:spcAft>
                      </a:pPr>
                      <a:r>
                        <a:rPr lang="en-US" sz="1000" b="1" u="sng" dirty="0">
                          <a:effectLst/>
                          <a:latin typeface="Calibri" panose="020F0502020204030204" pitchFamily="34" charset="0"/>
                          <a:ea typeface="Calibri" panose="020F0502020204030204" pitchFamily="34" charset="0"/>
                          <a:cs typeface="Times New Roman" panose="02020603050405020304" pitchFamily="18" charset="0"/>
                        </a:rPr>
                        <a:t>Food: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Positive: 5 reviews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Neutral: 2 reviews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Negative: 3 reviews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spcBef>
                          <a:spcPts val="0"/>
                        </a:spcBef>
                        <a:spcAft>
                          <a:spcPts val="0"/>
                        </a:spcAft>
                      </a:pPr>
                      <a:r>
                        <a:rPr lang="en-US" sz="1000" b="1" u="sng" dirty="0">
                          <a:effectLst/>
                          <a:latin typeface="Calibri" panose="020F0502020204030204" pitchFamily="34" charset="0"/>
                          <a:ea typeface="Calibri" panose="020F0502020204030204" pitchFamily="34" charset="0"/>
                          <a:cs typeface="Times New Roman" panose="02020603050405020304" pitchFamily="18" charset="0"/>
                        </a:rPr>
                        <a:t>Quality:</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Positive: 5 reviews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Neutral: 2 reviews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Negative: 3 reviews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spcBef>
                          <a:spcPts val="0"/>
                        </a:spcBef>
                        <a:spcAft>
                          <a:spcPts val="0"/>
                        </a:spcAft>
                      </a:pPr>
                      <a:r>
                        <a:rPr lang="en-US" sz="1000" b="1" u="sng" dirty="0">
                          <a:effectLst/>
                          <a:latin typeface="Calibri" panose="020F0502020204030204" pitchFamily="34" charset="0"/>
                          <a:ea typeface="Calibri" panose="020F0502020204030204" pitchFamily="34" charset="0"/>
                          <a:cs typeface="Times New Roman" panose="02020603050405020304" pitchFamily="18" charset="0"/>
                        </a:rPr>
                        <a:t>Service: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Positive: N/A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Neutral: N/A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Negative: 2 reviews (highlighted poor or slow service)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331478346"/>
                  </a:ext>
                </a:extLst>
              </a:tr>
              <a:tr h="726396">
                <a:tc>
                  <a:txBody>
                    <a:bodyPr/>
                    <a:lstStyle/>
                    <a:p>
                      <a:pPr marL="0" marR="0">
                        <a:spcBef>
                          <a:spcPts val="0"/>
                        </a:spcBef>
                        <a:spcAft>
                          <a:spcPts val="0"/>
                        </a:spcAft>
                      </a:pPr>
                      <a:r>
                        <a:rPr lang="en-US" sz="1000" b="1" u="sng" dirty="0">
                          <a:effectLst/>
                          <a:latin typeface="Calibri" panose="020F0502020204030204" pitchFamily="34" charset="0"/>
                          <a:ea typeface="Calibri" panose="020F0502020204030204" pitchFamily="34" charset="0"/>
                          <a:cs typeface="Times New Roman" panose="02020603050405020304" pitchFamily="18" charset="0"/>
                        </a:rPr>
                        <a:t>Ambiance: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Positive: N/A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Neutral: N/A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Negative: N/A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spcBef>
                          <a:spcPts val="0"/>
                        </a:spcBef>
                        <a:spcAft>
                          <a:spcPts val="0"/>
                        </a:spcAft>
                      </a:pPr>
                      <a:r>
                        <a:rPr lang="en-US" sz="1000" b="1" u="sng" dirty="0">
                          <a:effectLst/>
                          <a:latin typeface="Calibri" panose="020F0502020204030204" pitchFamily="34" charset="0"/>
                          <a:ea typeface="Calibri" panose="020F0502020204030204" pitchFamily="34" charset="0"/>
                          <a:cs typeface="Times New Roman" panose="02020603050405020304" pitchFamily="18" charset="0"/>
                        </a:rPr>
                        <a:t>Price</a:t>
                      </a:r>
                      <a:r>
                        <a:rPr lang="en-US" sz="1000" u="sng" dirty="0">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Positive: N/A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Neutral: N/A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Negative: N/A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spcBef>
                          <a:spcPts val="0"/>
                        </a:spcBef>
                        <a:spcAft>
                          <a:spcPts val="0"/>
                        </a:spcAft>
                      </a:pPr>
                      <a:r>
                        <a:rPr lang="en-US" sz="1000" b="1" u="sng" dirty="0">
                          <a:effectLst/>
                          <a:latin typeface="Calibri" panose="020F0502020204030204" pitchFamily="34" charset="0"/>
                          <a:ea typeface="Calibri" panose="020F0502020204030204" pitchFamily="34" charset="0"/>
                          <a:cs typeface="Times New Roman" panose="02020603050405020304" pitchFamily="18" charset="0"/>
                        </a:rPr>
                        <a:t>Overall Experience: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Positive: 5 reviews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Neutral: 2 reviews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Negative: 3 reviews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4040334269"/>
                  </a:ext>
                </a:extLst>
              </a:tr>
              <a:tr h="544797">
                <a:tc gridSpan="3">
                  <a:txBody>
                    <a:bodyPr/>
                    <a:lstStyle/>
                    <a:p>
                      <a:pPr marL="0" marR="0" algn="just">
                        <a:spcBef>
                          <a:spcPts val="0"/>
                        </a:spcBef>
                        <a:spcAft>
                          <a:spcPts val="0"/>
                        </a:spcAft>
                      </a:pPr>
                      <a:r>
                        <a:rPr lang="en-US" sz="1000" i="1" dirty="0">
                          <a:effectLst/>
                          <a:latin typeface="Calibri" panose="020F0502020204030204" pitchFamily="34" charset="0"/>
                          <a:ea typeface="Calibri" panose="020F0502020204030204" pitchFamily="34" charset="0"/>
                          <a:cs typeface="Times New Roman" panose="02020603050405020304" pitchFamily="18" charset="0"/>
                        </a:rPr>
                        <a:t>It seems like food and quality are the most frequently mentioned aspects, with a generally positive sentiment, while service has received some negative feedback. If you need more detailed insights or want to focus on specific aspects, just let me know!</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1280283"/>
                  </a:ext>
                </a:extLst>
              </a:tr>
            </a:tbl>
          </a:graphicData>
        </a:graphic>
      </p:graphicFrame>
    </p:spTree>
    <p:extLst>
      <p:ext uri="{BB962C8B-B14F-4D97-AF65-F5344CB8AC3E}">
        <p14:creationId xmlns:p14="http://schemas.microsoft.com/office/powerpoint/2010/main" val="2398210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8"/>
          <p:cNvSpPr txBox="1">
            <a:spLocks noGrp="1"/>
          </p:cNvSpPr>
          <p:nvPr>
            <p:ph type="title"/>
          </p:nvPr>
        </p:nvSpPr>
        <p:spPr>
          <a:xfrm>
            <a:off x="202549" y="289279"/>
            <a:ext cx="8803885"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Using Chain-of-Thought Prompting and the structure of the Prompt (Cont)</a:t>
            </a:r>
            <a:endParaRPr dirty="0">
              <a:solidFill>
                <a:schemeClr val="lt2"/>
              </a:solidFill>
              <a:latin typeface="Century Gothic"/>
              <a:ea typeface="Century Gothic"/>
              <a:cs typeface="Century Gothic"/>
              <a:sym typeface="Century Gothic"/>
            </a:endParaRPr>
          </a:p>
        </p:txBody>
      </p:sp>
      <p:sp>
        <p:nvSpPr>
          <p:cNvPr id="170" name="Google Shape;170;p38"/>
          <p:cNvSpPr txBox="1">
            <a:spLocks noGrp="1"/>
          </p:cNvSpPr>
          <p:nvPr>
            <p:ph type="body" idx="1"/>
          </p:nvPr>
        </p:nvSpPr>
        <p:spPr>
          <a:xfrm>
            <a:off x="202550" y="1017046"/>
            <a:ext cx="8629800" cy="3706800"/>
          </a:xfrm>
          <a:prstGeom prst="rect">
            <a:avLst/>
          </a:prstGeom>
          <a:noFill/>
          <a:ln>
            <a:noFill/>
          </a:ln>
        </p:spPr>
        <p:txBody>
          <a:bodyPr spcFirstLastPara="1" wrap="square" lIns="91425" tIns="91425" rIns="91425" bIns="91425" anchor="t" anchorCtr="0">
            <a:noAutofit/>
          </a:bodyPr>
          <a:lstStyle/>
          <a:p>
            <a:pPr marL="139700" indent="0">
              <a:buClr>
                <a:schemeClr val="dk1"/>
              </a:buClr>
              <a:buSzPts val="1400"/>
              <a:buNone/>
            </a:pPr>
            <a:r>
              <a:rPr lang="en-US" sz="1400" b="1" dirty="0">
                <a:solidFill>
                  <a:schemeClr val="dk1"/>
                </a:solidFill>
                <a:latin typeface="Century Gothic"/>
                <a:sym typeface="Century Gothic"/>
              </a:rPr>
              <a:t>Structure of the Prompt 3:</a:t>
            </a:r>
          </a:p>
          <a:p>
            <a:pPr lvl="1" indent="-317500">
              <a:spcBef>
                <a:spcPts val="0"/>
              </a:spcBef>
              <a:buClr>
                <a:schemeClr val="dk1"/>
              </a:buClr>
              <a:buSzPts val="1400"/>
              <a:buFont typeface="Century Gothic"/>
              <a:buChar char="●"/>
            </a:pPr>
            <a:r>
              <a:rPr lang="en-US" sz="1200" dirty="0">
                <a:solidFill>
                  <a:schemeClr val="dk1"/>
                </a:solidFill>
                <a:latin typeface="Century Gothic"/>
              </a:rPr>
              <a:t>Add a priority for each review by high, medium, and low, where high equals positive, medium is natural, and negative is low in a tabular format. Suggest actions/next step(s) based on the feedback provided. Generate the first response based on the customer sentiment review.</a:t>
            </a:r>
          </a:p>
          <a:p>
            <a:pPr lvl="1" indent="-317500">
              <a:spcBef>
                <a:spcPts val="0"/>
              </a:spcBef>
              <a:buClr>
                <a:schemeClr val="dk1"/>
              </a:buClr>
              <a:buSzPts val="1400"/>
              <a:buFont typeface="Century Gothic"/>
              <a:buChar char="●"/>
            </a:pPr>
            <a:endParaRPr lang="en-US" sz="1200" dirty="0">
              <a:solidFill>
                <a:schemeClr val="dk1"/>
              </a:solidFill>
              <a:latin typeface="Century Gothic"/>
            </a:endParaRPr>
          </a:p>
          <a:p>
            <a:pPr marL="596900" lvl="1" indent="0">
              <a:spcBef>
                <a:spcPts val="0"/>
              </a:spcBef>
              <a:buClr>
                <a:schemeClr val="dk1"/>
              </a:buClr>
              <a:buSzPts val="1400"/>
              <a:buNone/>
            </a:pPr>
            <a:r>
              <a:rPr lang="en-US" sz="1200" b="1" dirty="0">
                <a:solidFill>
                  <a:schemeClr val="dk1"/>
                </a:solidFill>
                <a:latin typeface="Century Gothic"/>
              </a:rPr>
              <a:t>Prompt 3</a:t>
            </a:r>
          </a:p>
          <a:p>
            <a:pPr marL="596900" lvl="1" indent="0">
              <a:spcBef>
                <a:spcPts val="0"/>
              </a:spcBef>
              <a:buClr>
                <a:schemeClr val="dk1"/>
              </a:buClr>
              <a:buSzPts val="1400"/>
              <a:buNone/>
            </a:pPr>
            <a:endParaRPr lang="en-US" sz="1200" dirty="0">
              <a:solidFill>
                <a:schemeClr val="dk1"/>
              </a:solidFill>
              <a:latin typeface="Century Gothic"/>
            </a:endParaRPr>
          </a:p>
          <a:p>
            <a:pPr marL="596900" lvl="1" indent="0">
              <a:spcBef>
                <a:spcPts val="0"/>
              </a:spcBef>
              <a:buClr>
                <a:schemeClr val="dk1"/>
              </a:buClr>
              <a:buSzPts val="1400"/>
              <a:buNone/>
            </a:pPr>
            <a:endParaRPr lang="en-US" sz="1200" dirty="0">
              <a:solidFill>
                <a:schemeClr val="dk1"/>
              </a:solidFill>
              <a:latin typeface="Century Gothic"/>
            </a:endParaRPr>
          </a:p>
          <a:p>
            <a:pPr marL="139700" indent="0">
              <a:buClr>
                <a:schemeClr val="dk1"/>
              </a:buClr>
              <a:buSzPts val="1400"/>
              <a:buNone/>
            </a:pPr>
            <a:endParaRPr lang="en-US" sz="1400" b="1" dirty="0">
              <a:solidFill>
                <a:schemeClr val="dk1"/>
              </a:solidFill>
              <a:latin typeface="Century Gothic"/>
              <a:sym typeface="Century Gothic"/>
            </a:endParaRPr>
          </a:p>
          <a:p>
            <a:pPr marL="139700" indent="0">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endParaRPr lang="en-US" sz="1400" b="1" dirty="0">
              <a:solidFill>
                <a:schemeClr val="dk1"/>
              </a:solidFill>
              <a:latin typeface="Century Gothic"/>
              <a:sym typeface="Century Gothic"/>
            </a:endParaRPr>
          </a:p>
          <a:p>
            <a:pPr marL="139700" lvl="1" indent="0">
              <a:spcBef>
                <a:spcPts val="0"/>
              </a:spcBef>
              <a:buClr>
                <a:schemeClr val="dk1"/>
              </a:buClr>
              <a:buSzPts val="1400"/>
              <a:buNone/>
            </a:pPr>
            <a:endParaRPr lang="en-US" sz="1400" b="1" dirty="0">
              <a:solidFill>
                <a:schemeClr val="dk1"/>
              </a:solidFill>
              <a:latin typeface="Century Gothic"/>
              <a:sym typeface="Century Gothic"/>
            </a:endParaRPr>
          </a:p>
        </p:txBody>
      </p:sp>
      <p:graphicFrame>
        <p:nvGraphicFramePr>
          <p:cNvPr id="4" name="Object 3">
            <a:extLst>
              <a:ext uri="{FF2B5EF4-FFF2-40B4-BE49-F238E27FC236}">
                <a16:creationId xmlns:a16="http://schemas.microsoft.com/office/drawing/2014/main" id="{4AAE0CA7-6174-7E43-AF1C-5A06CDB2DC60}"/>
              </a:ext>
            </a:extLst>
          </p:cNvPr>
          <p:cNvGraphicFramePr>
            <a:graphicFrameLocks noChangeAspect="1"/>
          </p:cNvGraphicFramePr>
          <p:nvPr>
            <p:extLst>
              <p:ext uri="{D42A27DB-BD31-4B8C-83A1-F6EECF244321}">
                <p14:modId xmlns:p14="http://schemas.microsoft.com/office/powerpoint/2010/main" val="4156810918"/>
              </p:ext>
            </p:extLst>
          </p:nvPr>
        </p:nvGraphicFramePr>
        <p:xfrm>
          <a:off x="3215460" y="2870446"/>
          <a:ext cx="965200" cy="609600"/>
        </p:xfrm>
        <a:graphic>
          <a:graphicData uri="http://schemas.openxmlformats.org/presentationml/2006/ole">
            <mc:AlternateContent xmlns:mc="http://schemas.openxmlformats.org/markup-compatibility/2006">
              <mc:Choice xmlns:v="urn:schemas-microsoft-com:vml" Requires="v">
                <p:oleObj spid="_x0000_s5197" name="Document" showAsIcon="1" r:id="rId4" imgW="965200" imgH="609600" progId="Word.Document.12">
                  <p:embed/>
                </p:oleObj>
              </mc:Choice>
              <mc:Fallback>
                <p:oleObj name="Document" showAsIcon="1" r:id="rId4" imgW="965200" imgH="609600" progId="Word.Document.12">
                  <p:embed/>
                  <p:pic>
                    <p:nvPicPr>
                      <p:cNvPr id="0" name=""/>
                      <p:cNvPicPr/>
                      <p:nvPr/>
                    </p:nvPicPr>
                    <p:blipFill>
                      <a:blip r:embed="rId5"/>
                      <a:stretch>
                        <a:fillRect/>
                      </a:stretch>
                    </p:blipFill>
                    <p:spPr>
                      <a:xfrm>
                        <a:off x="3215460" y="2870446"/>
                        <a:ext cx="965200" cy="609600"/>
                      </a:xfrm>
                      <a:prstGeom prst="rect">
                        <a:avLst/>
                      </a:prstGeom>
                    </p:spPr>
                  </p:pic>
                </p:oleObj>
              </mc:Fallback>
            </mc:AlternateContent>
          </a:graphicData>
        </a:graphic>
      </p:graphicFrame>
    </p:spTree>
    <p:extLst>
      <p:ext uri="{BB962C8B-B14F-4D97-AF65-F5344CB8AC3E}">
        <p14:creationId xmlns:p14="http://schemas.microsoft.com/office/powerpoint/2010/main" val="1962076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Prompt 3 output</a:t>
            </a:r>
            <a:endParaRPr dirty="0">
              <a:solidFill>
                <a:schemeClr val="lt2"/>
              </a:solidFill>
              <a:latin typeface="Century Gothic"/>
              <a:ea typeface="Century Gothic"/>
              <a:cs typeface="Century Gothic"/>
              <a:sym typeface="Century Gothic"/>
            </a:endParaRPr>
          </a:p>
        </p:txBody>
      </p:sp>
      <p:sp>
        <p:nvSpPr>
          <p:cNvPr id="207" name="Google Shape;207;p44"/>
          <p:cNvSpPr txBox="1">
            <a:spLocks noGrp="1"/>
          </p:cNvSpPr>
          <p:nvPr>
            <p:ph type="body" idx="1"/>
          </p:nvPr>
        </p:nvSpPr>
        <p:spPr>
          <a:xfrm>
            <a:off x="0" y="686420"/>
            <a:ext cx="4790485" cy="4282089"/>
          </a:xfrm>
          <a:prstGeom prst="rect">
            <a:avLst/>
          </a:prstGeom>
          <a:noFill/>
          <a:ln>
            <a:noFill/>
          </a:ln>
        </p:spPr>
        <p:txBody>
          <a:bodyPr spcFirstLastPara="1" wrap="square" lIns="91425" tIns="91425" rIns="91425" bIns="91425" anchor="t" anchorCtr="0">
            <a:noAutofit/>
          </a:bodyPr>
          <a:lstStyle/>
          <a:p>
            <a:pPr marL="0" indent="0">
              <a:buNone/>
            </a:pPr>
            <a:r>
              <a:rPr lang="en-US" sz="1100" b="1" dirty="0">
                <a:solidFill>
                  <a:schemeClr val="dk1"/>
                </a:solidFill>
                <a:latin typeface="Century Gothic"/>
              </a:rPr>
              <a:t>Suggested Actions Based on Customer Sentiment Reviews</a:t>
            </a:r>
          </a:p>
          <a:p>
            <a:pPr marL="0" indent="0">
              <a:buNone/>
            </a:pPr>
            <a:r>
              <a:rPr lang="en-US" sz="1100" dirty="0">
                <a:solidFill>
                  <a:schemeClr val="dk1"/>
                </a:solidFill>
                <a:latin typeface="Century Gothic"/>
              </a:rPr>
              <a:t>1. Maintain and Highlight Strengths:</a:t>
            </a:r>
          </a:p>
          <a:p>
            <a:pPr marL="171450" indent="-171450">
              <a:buFont typeface="Arial" panose="020B0604020202020204" pitchFamily="34" charset="0"/>
              <a:buChar char="•"/>
            </a:pPr>
            <a:r>
              <a:rPr lang="en-US" sz="1100" dirty="0">
                <a:solidFill>
                  <a:schemeClr val="dk1"/>
                </a:solidFill>
                <a:latin typeface="Century Gothic"/>
              </a:rPr>
              <a:t>For positive feedback (High Priority), continue to maintain high standards of food quality, presentation, portion sizes, and ambiance.</a:t>
            </a:r>
          </a:p>
          <a:p>
            <a:pPr marL="171450" indent="-171450">
              <a:buFont typeface="Arial" panose="020B0604020202020204" pitchFamily="34" charset="0"/>
              <a:buChar char="•"/>
            </a:pPr>
            <a:r>
              <a:rPr lang="en-US" sz="1100" dirty="0">
                <a:solidFill>
                  <a:schemeClr val="dk1"/>
                </a:solidFill>
                <a:latin typeface="Century Gothic"/>
              </a:rPr>
              <a:t>Highlight popular dishes and ensure consistency to reinforce customer satisfaction.</a:t>
            </a:r>
          </a:p>
          <a:p>
            <a:pPr marL="0" indent="0">
              <a:buNone/>
            </a:pPr>
            <a:r>
              <a:rPr lang="en-US" sz="1100" dirty="0">
                <a:solidFill>
                  <a:schemeClr val="dk1"/>
                </a:solidFill>
                <a:latin typeface="Century Gothic"/>
              </a:rPr>
              <a:t>2. Address Inconsistencies::</a:t>
            </a:r>
          </a:p>
          <a:p>
            <a:pPr marL="171450" indent="-171450">
              <a:buFont typeface="Arial" panose="020B0604020202020204" pitchFamily="34" charset="0"/>
              <a:buChar char="•"/>
            </a:pPr>
            <a:r>
              <a:rPr lang="en-US" sz="1100" dirty="0">
                <a:solidFill>
                  <a:schemeClr val="dk1"/>
                </a:solidFill>
                <a:latin typeface="Century Gothic"/>
              </a:rPr>
              <a:t>For mixed feedback (Medium Priority), focus on improving consistency in dish preparation and flavor profiles.</a:t>
            </a:r>
          </a:p>
          <a:p>
            <a:pPr marL="171450" indent="-171450">
              <a:buFont typeface="Arial" panose="020B0604020202020204" pitchFamily="34" charset="0"/>
              <a:buChar char="•"/>
            </a:pPr>
            <a:r>
              <a:rPr lang="en-US" sz="1100" dirty="0">
                <a:solidFill>
                  <a:schemeClr val="dk1"/>
                </a:solidFill>
                <a:latin typeface="Century Gothic"/>
              </a:rPr>
              <a:t>Innovate and refresh menu options to enhance overall dining experience. </a:t>
            </a:r>
          </a:p>
          <a:p>
            <a:pPr marL="0" indent="0">
              <a:buNone/>
            </a:pPr>
            <a:r>
              <a:rPr lang="en-US" sz="1100" dirty="0">
                <a:solidFill>
                  <a:schemeClr val="dk1"/>
                </a:solidFill>
                <a:latin typeface="Century Gothic"/>
              </a:rPr>
              <a:t>3. Improve Areas of Concern:</a:t>
            </a:r>
          </a:p>
          <a:p>
            <a:pPr marL="171450" indent="-171450">
              <a:buFont typeface="Arial" panose="020B0604020202020204" pitchFamily="34" charset="0"/>
              <a:buChar char="•"/>
            </a:pPr>
            <a:r>
              <a:rPr lang="en-US" sz="1100" dirty="0">
                <a:solidFill>
                  <a:schemeClr val="dk1"/>
                </a:solidFill>
                <a:latin typeface="Century Gothic"/>
              </a:rPr>
              <a:t>For negative feedback (Low Priority), immediate action is required to address poor food quality, lack of flavor, and service issues.</a:t>
            </a:r>
          </a:p>
          <a:p>
            <a:pPr marL="171450" indent="-171450">
              <a:buFont typeface="Arial" panose="020B0604020202020204" pitchFamily="34" charset="0"/>
              <a:buChar char="•"/>
            </a:pPr>
            <a:r>
              <a:rPr lang="en-US" sz="1100" dirty="0">
                <a:solidFill>
                  <a:schemeClr val="dk1"/>
                </a:solidFill>
                <a:latin typeface="Century Gothic"/>
              </a:rPr>
              <a:t>Conduct staff training to improve service quality and review recipes to enhance flavors.</a:t>
            </a:r>
          </a:p>
          <a:p>
            <a:pPr marL="0" indent="0">
              <a:buNone/>
            </a:pPr>
            <a:r>
              <a:rPr lang="en-US" sz="1100" dirty="0">
                <a:solidFill>
                  <a:schemeClr val="dk1"/>
                </a:solidFill>
                <a:latin typeface="Century Gothic"/>
              </a:rPr>
              <a:t>By implementing these actions, the restaurant can continue to build on its strengths while addressing areas that need improvement, ensuring a better overall experience for all customers. </a:t>
            </a:r>
            <a:endParaRPr sz="1100" dirty="0">
              <a:solidFill>
                <a:schemeClr val="dk1"/>
              </a:solidFill>
              <a:latin typeface="Century Gothic"/>
              <a:sym typeface="Century Gothic"/>
            </a:endParaRPr>
          </a:p>
        </p:txBody>
      </p:sp>
      <p:graphicFrame>
        <p:nvGraphicFramePr>
          <p:cNvPr id="2" name="Table 1">
            <a:extLst>
              <a:ext uri="{FF2B5EF4-FFF2-40B4-BE49-F238E27FC236}">
                <a16:creationId xmlns:a16="http://schemas.microsoft.com/office/drawing/2014/main" id="{2DDD7CBF-49EB-FF43-AF7D-7114FADEFC8A}"/>
              </a:ext>
            </a:extLst>
          </p:cNvPr>
          <p:cNvGraphicFramePr>
            <a:graphicFrameLocks noGrp="1"/>
          </p:cNvGraphicFramePr>
          <p:nvPr>
            <p:extLst>
              <p:ext uri="{D42A27DB-BD31-4B8C-83A1-F6EECF244321}">
                <p14:modId xmlns:p14="http://schemas.microsoft.com/office/powerpoint/2010/main" val="862446449"/>
              </p:ext>
            </p:extLst>
          </p:nvPr>
        </p:nvGraphicFramePr>
        <p:xfrm>
          <a:off x="4684819" y="861979"/>
          <a:ext cx="4370169" cy="4025609"/>
        </p:xfrm>
        <a:graphic>
          <a:graphicData uri="http://schemas.openxmlformats.org/drawingml/2006/table">
            <a:tbl>
              <a:tblPr firstRow="1" firstCol="1" bandRow="1">
                <a:tableStyleId>{51CC1095-FEA2-4AFC-BACE-85E324112692}</a:tableStyleId>
              </a:tblPr>
              <a:tblGrid>
                <a:gridCol w="502176">
                  <a:extLst>
                    <a:ext uri="{9D8B030D-6E8A-4147-A177-3AD203B41FA5}">
                      <a16:colId xmlns:a16="http://schemas.microsoft.com/office/drawing/2014/main" val="301161737"/>
                    </a:ext>
                  </a:extLst>
                </a:gridCol>
                <a:gridCol w="442525">
                  <a:extLst>
                    <a:ext uri="{9D8B030D-6E8A-4147-A177-3AD203B41FA5}">
                      <a16:colId xmlns:a16="http://schemas.microsoft.com/office/drawing/2014/main" val="1025052325"/>
                    </a:ext>
                  </a:extLst>
                </a:gridCol>
                <a:gridCol w="401270">
                  <a:extLst>
                    <a:ext uri="{9D8B030D-6E8A-4147-A177-3AD203B41FA5}">
                      <a16:colId xmlns:a16="http://schemas.microsoft.com/office/drawing/2014/main" val="3031421317"/>
                    </a:ext>
                  </a:extLst>
                </a:gridCol>
                <a:gridCol w="1417464">
                  <a:extLst>
                    <a:ext uri="{9D8B030D-6E8A-4147-A177-3AD203B41FA5}">
                      <a16:colId xmlns:a16="http://schemas.microsoft.com/office/drawing/2014/main" val="1573272897"/>
                    </a:ext>
                  </a:extLst>
                </a:gridCol>
                <a:gridCol w="1606734">
                  <a:extLst>
                    <a:ext uri="{9D8B030D-6E8A-4147-A177-3AD203B41FA5}">
                      <a16:colId xmlns:a16="http://schemas.microsoft.com/office/drawing/2014/main" val="791490584"/>
                    </a:ext>
                  </a:extLst>
                </a:gridCol>
              </a:tblGrid>
              <a:tr h="243416">
                <a:tc>
                  <a:txBody>
                    <a:bodyPr/>
                    <a:lstStyle/>
                    <a:p>
                      <a:pPr marL="0" marR="0" algn="ctr">
                        <a:spcBef>
                          <a:spcPts val="0"/>
                        </a:spcBef>
                        <a:spcAft>
                          <a:spcPts val="0"/>
                        </a:spcAft>
                      </a:pPr>
                      <a:r>
                        <a:rPr lang="en-US" sz="700" b="1" dirty="0">
                          <a:effectLst/>
                        </a:rPr>
                        <a:t>Customer</a:t>
                      </a:r>
                      <a:endParaRPr lang="en-US" sz="700" b="1"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0"/>
                      </a:schemeClr>
                    </a:solidFill>
                  </a:tcPr>
                </a:tc>
                <a:tc>
                  <a:txBody>
                    <a:bodyPr/>
                    <a:lstStyle/>
                    <a:p>
                      <a:pPr marL="0" marR="0" algn="ctr">
                        <a:spcBef>
                          <a:spcPts val="0"/>
                        </a:spcBef>
                        <a:spcAft>
                          <a:spcPts val="0"/>
                        </a:spcAft>
                      </a:pPr>
                      <a:r>
                        <a:rPr lang="en-US" sz="700" dirty="0">
                          <a:effectLst/>
                        </a:rPr>
                        <a:t>Sentiment</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0"/>
                      </a:schemeClr>
                    </a:solidFill>
                  </a:tcPr>
                </a:tc>
                <a:tc>
                  <a:txBody>
                    <a:bodyPr/>
                    <a:lstStyle/>
                    <a:p>
                      <a:pPr marL="0" marR="0" algn="ctr">
                        <a:spcBef>
                          <a:spcPts val="0"/>
                        </a:spcBef>
                        <a:spcAft>
                          <a:spcPts val="0"/>
                        </a:spcAft>
                      </a:pPr>
                      <a:r>
                        <a:rPr lang="en-US" sz="700" dirty="0">
                          <a:effectLst/>
                        </a:rPr>
                        <a:t>Priority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0"/>
                      </a:schemeClr>
                    </a:solidFill>
                  </a:tcPr>
                </a:tc>
                <a:tc>
                  <a:txBody>
                    <a:bodyPr/>
                    <a:lstStyle/>
                    <a:p>
                      <a:pPr marL="0" marR="0" algn="ctr">
                        <a:spcBef>
                          <a:spcPts val="0"/>
                        </a:spcBef>
                        <a:spcAft>
                          <a:spcPts val="0"/>
                        </a:spcAft>
                      </a:pPr>
                      <a:r>
                        <a:rPr lang="en-US" sz="700" dirty="0">
                          <a:effectLst/>
                        </a:rPr>
                        <a:t>Key Factors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0"/>
                      </a:schemeClr>
                    </a:solidFill>
                  </a:tcPr>
                </a:tc>
                <a:tc>
                  <a:txBody>
                    <a:bodyPr/>
                    <a:lstStyle/>
                    <a:p>
                      <a:pPr marL="0" marR="0" algn="ctr">
                        <a:spcBef>
                          <a:spcPts val="0"/>
                        </a:spcBef>
                        <a:spcAft>
                          <a:spcPts val="0"/>
                        </a:spcAft>
                      </a:pPr>
                      <a:r>
                        <a:rPr lang="en-US" sz="700" dirty="0">
                          <a:effectLst/>
                        </a:rPr>
                        <a:t>Suggested Actions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0"/>
                      </a:schemeClr>
                    </a:solidFill>
                  </a:tcPr>
                </a:tc>
                <a:extLst>
                  <a:ext uri="{0D108BD9-81ED-4DB2-BD59-A6C34878D82A}">
                    <a16:rowId xmlns:a16="http://schemas.microsoft.com/office/drawing/2014/main" val="1576423643"/>
                  </a:ext>
                </a:extLst>
              </a:tr>
              <a:tr h="366151">
                <a:tc>
                  <a:txBody>
                    <a:bodyPr/>
                    <a:lstStyle/>
                    <a:p>
                      <a:pPr marL="0" marR="0" algn="ctr">
                        <a:spcBef>
                          <a:spcPts val="0"/>
                        </a:spcBef>
                        <a:spcAft>
                          <a:spcPts val="0"/>
                        </a:spcAft>
                      </a:pPr>
                      <a:r>
                        <a:rPr lang="en-US" sz="700" dirty="0">
                          <a:effectLst/>
                        </a:rPr>
                        <a:t>Cust2024-001</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Positive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High</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Rich and vibrant flavors, perfectly seasoned steak, impressive dessert selection</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Maintain high standards of food quality and seasoning</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3294674"/>
                  </a:ext>
                </a:extLst>
              </a:tr>
              <a:tr h="366151">
                <a:tc>
                  <a:txBody>
                    <a:bodyPr/>
                    <a:lstStyle/>
                    <a:p>
                      <a:pPr marL="0" marR="0" algn="ctr">
                        <a:spcBef>
                          <a:spcPts val="0"/>
                        </a:spcBef>
                        <a:spcAft>
                          <a:spcPts val="0"/>
                        </a:spcAft>
                      </a:pPr>
                      <a:r>
                        <a:rPr lang="en-US" sz="700" dirty="0">
                          <a:effectLst/>
                        </a:rPr>
                        <a:t>Cust2024-002</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Mixed</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Medium</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Enjoyable dishes overall, but some fell short</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Improve consistency in dish preparation</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3392063"/>
                  </a:ext>
                </a:extLst>
              </a:tr>
              <a:tr h="366151">
                <a:tc>
                  <a:txBody>
                    <a:bodyPr/>
                    <a:lstStyle/>
                    <a:p>
                      <a:pPr marL="0" marR="0" algn="ctr">
                        <a:spcBef>
                          <a:spcPts val="0"/>
                        </a:spcBef>
                        <a:spcAft>
                          <a:spcPts val="0"/>
                        </a:spcAft>
                      </a:pPr>
                      <a:r>
                        <a:rPr lang="en-US" sz="700" dirty="0">
                          <a:effectLst/>
                        </a:rPr>
                        <a:t>Cust2024-003</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Positive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High</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Exquisite and beautifully presented food</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Continue to emphasize presentation and taste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515141"/>
                  </a:ext>
                </a:extLst>
              </a:tr>
              <a:tr h="366151">
                <a:tc>
                  <a:txBody>
                    <a:bodyPr/>
                    <a:lstStyle/>
                    <a:p>
                      <a:pPr marL="0" marR="0" algn="ctr">
                        <a:spcBef>
                          <a:spcPts val="0"/>
                        </a:spcBef>
                        <a:spcAft>
                          <a:spcPts val="0"/>
                        </a:spcAft>
                      </a:pPr>
                      <a:r>
                        <a:rPr lang="en-US" sz="700" dirty="0">
                          <a:effectLst/>
                        </a:rPr>
                        <a:t>Cust2024-004</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Negative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Low</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Below-average food, bland flavors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Revise recipes and enhance flavors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9442103"/>
                  </a:ext>
                </a:extLst>
              </a:tr>
              <a:tr h="366151">
                <a:tc>
                  <a:txBody>
                    <a:bodyPr/>
                    <a:lstStyle/>
                    <a:p>
                      <a:pPr marL="0" marR="0" algn="ctr">
                        <a:spcBef>
                          <a:spcPts val="0"/>
                        </a:spcBef>
                        <a:spcAft>
                          <a:spcPts val="0"/>
                        </a:spcAft>
                      </a:pPr>
                      <a:r>
                        <a:rPr lang="en-US" sz="700" dirty="0">
                          <a:effectLst/>
                        </a:rPr>
                        <a:t>Cust2024-005</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Positive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High</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Outstanding food, generous portions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Maintain portion sizes and food quality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4753087"/>
                  </a:ext>
                </a:extLst>
              </a:tr>
              <a:tr h="366151">
                <a:tc>
                  <a:txBody>
                    <a:bodyPr/>
                    <a:lstStyle/>
                    <a:p>
                      <a:pPr marL="0" marR="0" algn="ctr">
                        <a:spcBef>
                          <a:spcPts val="0"/>
                        </a:spcBef>
                        <a:spcAft>
                          <a:spcPts val="0"/>
                        </a:spcAft>
                      </a:pPr>
                      <a:r>
                        <a:rPr lang="en-US" sz="700" dirty="0">
                          <a:effectLst/>
                        </a:rPr>
                        <a:t>Cust2024-006</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Negative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Low</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Irrelevant and nonsensical text</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700" dirty="0">
                          <a:effectLst/>
                        </a:rPr>
                        <a:t>N/A</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2974378"/>
                  </a:ext>
                </a:extLst>
              </a:tr>
              <a:tr h="366151">
                <a:tc>
                  <a:txBody>
                    <a:bodyPr/>
                    <a:lstStyle/>
                    <a:p>
                      <a:pPr marL="0" marR="0" algn="ctr">
                        <a:spcBef>
                          <a:spcPts val="0"/>
                        </a:spcBef>
                        <a:spcAft>
                          <a:spcPts val="0"/>
                        </a:spcAft>
                      </a:pPr>
                      <a:r>
                        <a:rPr lang="en-US" sz="700" dirty="0">
                          <a:effectLst/>
                        </a:rPr>
                        <a:t>Cust2024-007</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Positive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High</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Consistently delicious food, tender and flavorful lamb, cozy ambiance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Maintain consistency and ambiance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5191771"/>
                  </a:ext>
                </a:extLst>
              </a:tr>
              <a:tr h="366151">
                <a:tc>
                  <a:txBody>
                    <a:bodyPr/>
                    <a:lstStyle/>
                    <a:p>
                      <a:pPr marL="0" marR="0" algn="ctr">
                        <a:spcBef>
                          <a:spcPts val="0"/>
                        </a:spcBef>
                        <a:spcAft>
                          <a:spcPts val="0"/>
                        </a:spcAft>
                      </a:pPr>
                      <a:r>
                        <a:rPr lang="en-US" sz="700" dirty="0">
                          <a:effectLst/>
                        </a:rPr>
                        <a:t>Cust2024-008</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Mixed</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Medium</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Varied menu options, but nothing exceptional</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Innovate menu items and improve flavor profiles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7354254"/>
                  </a:ext>
                </a:extLst>
              </a:tr>
              <a:tr h="486834">
                <a:tc>
                  <a:txBody>
                    <a:bodyPr/>
                    <a:lstStyle/>
                    <a:p>
                      <a:pPr marL="0" marR="0" algn="ctr">
                        <a:spcBef>
                          <a:spcPts val="0"/>
                        </a:spcBef>
                        <a:spcAft>
                          <a:spcPts val="0"/>
                        </a:spcAft>
                      </a:pPr>
                      <a:r>
                        <a:rPr lang="en-US" sz="700" dirty="0">
                          <a:effectLst/>
                        </a:rPr>
                        <a:t>Cust2024-009</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Negative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Low</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Poor service, noisy and crowded atmosphere, overcooked steak, lackluster salad</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Address service issues, improve steak and salad quality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1346052"/>
                  </a:ext>
                </a:extLst>
              </a:tr>
              <a:tr h="366151">
                <a:tc>
                  <a:txBody>
                    <a:bodyPr/>
                    <a:lstStyle/>
                    <a:p>
                      <a:pPr marL="0" marR="0" algn="ctr">
                        <a:spcBef>
                          <a:spcPts val="0"/>
                        </a:spcBef>
                        <a:spcAft>
                          <a:spcPts val="0"/>
                        </a:spcAft>
                      </a:pPr>
                      <a:r>
                        <a:rPr lang="en-US" sz="700" dirty="0">
                          <a:effectLst/>
                        </a:rPr>
                        <a:t>Cust2024-010</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Negative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Low</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Disappointing food, slow and inattentive service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700" dirty="0">
                          <a:effectLst/>
                        </a:rPr>
                        <a:t>Enhance food quality and speed of service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322" marR="423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4047969"/>
                  </a:ext>
                </a:extLst>
              </a:tr>
            </a:tbl>
          </a:graphicData>
        </a:graphic>
      </p:graphicFrame>
    </p:spTree>
    <p:extLst>
      <p:ext uri="{BB962C8B-B14F-4D97-AF65-F5344CB8AC3E}">
        <p14:creationId xmlns:p14="http://schemas.microsoft.com/office/powerpoint/2010/main" val="1147518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4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Outcome of different prompting techniques</a:t>
            </a:r>
            <a:endParaRPr dirty="0">
              <a:solidFill>
                <a:schemeClr val="lt2"/>
              </a:solidFill>
              <a:latin typeface="Century Gothic"/>
              <a:ea typeface="Century Gothic"/>
              <a:cs typeface="Century Gothic"/>
              <a:sym typeface="Century Gothic"/>
            </a:endParaRPr>
          </a:p>
        </p:txBody>
      </p:sp>
      <p:sp>
        <p:nvSpPr>
          <p:cNvPr id="182" name="Google Shape;182;p40"/>
          <p:cNvSpPr txBox="1">
            <a:spLocks noGrp="1"/>
          </p:cNvSpPr>
          <p:nvPr>
            <p:ph type="body" idx="1"/>
          </p:nvPr>
        </p:nvSpPr>
        <p:spPr>
          <a:xfrm>
            <a:off x="202550" y="861975"/>
            <a:ext cx="8629800" cy="4076100"/>
          </a:xfrm>
          <a:prstGeom prst="rect">
            <a:avLst/>
          </a:prstGeom>
          <a:noFill/>
          <a:ln>
            <a:noFill/>
          </a:ln>
        </p:spPr>
        <p:txBody>
          <a:bodyPr spcFirstLastPara="1" wrap="square" lIns="91425" tIns="91425" rIns="91425" bIns="91425" anchor="t" anchorCtr="0">
            <a:noAutofit/>
          </a:bodyPr>
          <a:lstStyle/>
          <a:p>
            <a:pPr marL="139700" indent="0">
              <a:buClr>
                <a:schemeClr val="dk1"/>
              </a:buClr>
              <a:buSzPts val="1400"/>
              <a:buNone/>
            </a:pPr>
            <a:r>
              <a:rPr lang="en" sz="1400" b="1" dirty="0">
                <a:solidFill>
                  <a:schemeClr val="dk1"/>
                </a:solidFill>
                <a:latin typeface="Century Gothic"/>
                <a:sym typeface="Century Gothic"/>
              </a:rPr>
              <a:t>Outcome:</a:t>
            </a:r>
          </a:p>
          <a:p>
            <a:pPr marL="139700" indent="0">
              <a:buClr>
                <a:schemeClr val="dk1"/>
              </a:buClr>
              <a:buSzPts val="1400"/>
              <a:buNone/>
            </a:pPr>
            <a:r>
              <a:rPr lang="en-US" sz="1200" dirty="0">
                <a:solidFill>
                  <a:schemeClr val="dk1"/>
                </a:solidFill>
                <a:latin typeface="Century Gothic"/>
                <a:sym typeface="Century Gothic"/>
              </a:rPr>
              <a:t>By leveraging different prompt techniques on different LLM platforms, it can be seen that the platforms were able to generate output by consuming the data. </a:t>
            </a:r>
          </a:p>
          <a:p>
            <a:pPr marL="139700" indent="0">
              <a:buClr>
                <a:schemeClr val="dk1"/>
              </a:buClr>
              <a:buSzPts val="1400"/>
              <a:buNone/>
            </a:pPr>
            <a:r>
              <a:rPr lang="en-US" sz="1200" dirty="0">
                <a:solidFill>
                  <a:schemeClr val="dk1"/>
                </a:solidFill>
                <a:latin typeface="Century Gothic"/>
                <a:sym typeface="Century Gothic"/>
              </a:rPr>
              <a:t>For this assignment, I leveraged three different prompts.</a:t>
            </a:r>
          </a:p>
          <a:p>
            <a:pPr marL="139700" indent="0">
              <a:buClr>
                <a:schemeClr val="dk1"/>
              </a:buClr>
              <a:buSzPts val="1400"/>
              <a:buNone/>
            </a:pPr>
            <a:r>
              <a:rPr lang="en-US" sz="1200" dirty="0">
                <a:solidFill>
                  <a:schemeClr val="dk1"/>
                </a:solidFill>
                <a:latin typeface="Century Gothic"/>
                <a:sym typeface="Century Gothic"/>
              </a:rPr>
              <a:t>•Zero-Shot</a:t>
            </a:r>
          </a:p>
          <a:p>
            <a:pPr marL="139700" indent="0">
              <a:buClr>
                <a:schemeClr val="dk1"/>
              </a:buClr>
              <a:buSzPts val="1400"/>
              <a:buNone/>
            </a:pPr>
            <a:r>
              <a:rPr lang="en-US" sz="1200" dirty="0">
                <a:solidFill>
                  <a:schemeClr val="dk1"/>
                </a:solidFill>
                <a:latin typeface="Century Gothic"/>
                <a:sym typeface="Century Gothic"/>
              </a:rPr>
              <a:t>•One-Shot</a:t>
            </a:r>
          </a:p>
          <a:p>
            <a:pPr marL="139700" indent="0">
              <a:buClr>
                <a:schemeClr val="dk1"/>
              </a:buClr>
              <a:buSzPts val="1400"/>
              <a:buNone/>
            </a:pPr>
            <a:r>
              <a:rPr lang="en-US" sz="1200" dirty="0">
                <a:solidFill>
                  <a:schemeClr val="dk1"/>
                </a:solidFill>
                <a:latin typeface="Century Gothic"/>
                <a:sym typeface="Century Gothic"/>
              </a:rPr>
              <a:t>•Chain-of-Thought</a:t>
            </a:r>
          </a:p>
          <a:p>
            <a:pPr marL="139700" indent="0">
              <a:buClr>
                <a:schemeClr val="dk1"/>
              </a:buClr>
              <a:buSzPts val="1400"/>
              <a:buNone/>
            </a:pPr>
            <a:endParaRPr lang="en-US" sz="1200" dirty="0">
              <a:solidFill>
                <a:schemeClr val="dk1"/>
              </a:solidFill>
              <a:latin typeface="Century Gothic"/>
              <a:sym typeface="Century Gothic"/>
            </a:endParaRPr>
          </a:p>
          <a:p>
            <a:pPr marL="139700" indent="0">
              <a:buClr>
                <a:schemeClr val="dk1"/>
              </a:buClr>
              <a:buSzPts val="1400"/>
              <a:buNone/>
            </a:pPr>
            <a:r>
              <a:rPr lang="en-US" sz="1200" dirty="0">
                <a:solidFill>
                  <a:schemeClr val="dk1"/>
                </a:solidFill>
                <a:latin typeface="Century Gothic"/>
                <a:sym typeface="Century Gothic"/>
              </a:rPr>
              <a:t>I leveraged ChatGPT and Microsoft Copilot as the LLM tools. I used them because they are the most popular and the average user uses them, and I have experience with other LLM platforms.</a:t>
            </a:r>
          </a:p>
          <a:p>
            <a:pPr marL="139700" indent="0">
              <a:buClr>
                <a:schemeClr val="dk1"/>
              </a:buClr>
              <a:buSzPts val="1400"/>
              <a:buNone/>
            </a:pPr>
            <a:endParaRPr lang="en" sz="1400" dirty="0">
              <a:solidFill>
                <a:schemeClr val="lt2"/>
              </a:solidFill>
              <a:latin typeface="Century Gothic"/>
              <a:ea typeface="Century Gothic"/>
              <a:cs typeface="Century Gothic"/>
              <a:sym typeface="Century Gothic"/>
            </a:endParaRPr>
          </a:p>
          <a:p>
            <a:pPr marL="139700" lvl="0" indent="0">
              <a:buClr>
                <a:schemeClr val="dk1"/>
              </a:buClr>
              <a:buSzPts val="1400"/>
              <a:buNone/>
            </a:pPr>
            <a:r>
              <a:rPr lang="en" sz="1400" b="1" dirty="0">
                <a:solidFill>
                  <a:schemeClr val="dk1"/>
                </a:solidFill>
                <a:latin typeface="Century Gothic"/>
                <a:sym typeface="Century Gothic"/>
              </a:rPr>
              <a:t>Output from the Prompt:</a:t>
            </a:r>
          </a:p>
          <a:p>
            <a:pPr marL="139700" lvl="0" indent="0">
              <a:buClr>
                <a:schemeClr val="dk1"/>
              </a:buClr>
              <a:buSzPts val="1400"/>
              <a:buNone/>
            </a:pPr>
            <a:r>
              <a:rPr lang="en-US" sz="1200" dirty="0">
                <a:solidFill>
                  <a:schemeClr val="dk1"/>
                </a:solidFill>
                <a:latin typeface="Century Gothic"/>
                <a:ea typeface="Century Gothic"/>
                <a:cs typeface="Century Gothic"/>
                <a:sym typeface="Century Gothic"/>
              </a:rPr>
              <a:t>Outputs of the prompts are attached with each response, and a PDF format is also uploaded with the assignment. </a:t>
            </a:r>
            <a:endParaRPr sz="1200" dirty="0">
              <a:solidFill>
                <a:schemeClr val="dk1"/>
              </a:solidFill>
              <a:latin typeface="Century Gothic"/>
              <a:ea typeface="Century Gothic"/>
              <a:cs typeface="Century Gothic"/>
              <a:sym typeface="Century Gothic"/>
            </a:endParaRPr>
          </a:p>
        </p:txBody>
      </p:sp>
      <p:sp>
        <p:nvSpPr>
          <p:cNvPr id="183" name="Google Shape;183;p40"/>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dirty="0">
              <a:solidFill>
                <a:srgbClr val="666666"/>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Observations/Insights and conclusions</a:t>
            </a:r>
            <a:endParaRPr dirty="0">
              <a:solidFill>
                <a:schemeClr val="lt2"/>
              </a:solidFill>
              <a:latin typeface="Century Gothic"/>
              <a:ea typeface="Century Gothic"/>
              <a:cs typeface="Century Gothic"/>
              <a:sym typeface="Century Gothic"/>
            </a:endParaRPr>
          </a:p>
        </p:txBody>
      </p:sp>
      <p:sp>
        <p:nvSpPr>
          <p:cNvPr id="189" name="Google Shape;189;p41"/>
          <p:cNvSpPr txBox="1">
            <a:spLocks noGrp="1"/>
          </p:cNvSpPr>
          <p:nvPr>
            <p:ph type="body" idx="1"/>
          </p:nvPr>
        </p:nvSpPr>
        <p:spPr>
          <a:xfrm>
            <a:off x="202550" y="687046"/>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Clr>
                <a:schemeClr val="dk1"/>
              </a:buClr>
              <a:buSzPts val="1400"/>
              <a:buNone/>
            </a:pPr>
            <a:r>
              <a:rPr lang="en" sz="1400" b="1" dirty="0">
                <a:solidFill>
                  <a:schemeClr val="dk1"/>
                </a:solidFill>
                <a:latin typeface="Century Gothic"/>
                <a:ea typeface="Century Gothic"/>
                <a:cs typeface="Century Gothic"/>
                <a:sym typeface="Century Gothic"/>
              </a:rPr>
              <a:t>Observations and insights:</a:t>
            </a:r>
            <a:endParaRPr lang="en" sz="1400" dirty="0">
              <a:solidFill>
                <a:schemeClr val="dk1"/>
              </a:solidFill>
              <a:latin typeface="Century Gothic"/>
              <a:ea typeface="Century Gothic"/>
              <a:cs typeface="Century Gothic"/>
              <a:sym typeface="Century Gothic"/>
            </a:endParaRPr>
          </a:p>
          <a:p>
            <a:r>
              <a:rPr lang="en-US" sz="1200" dirty="0">
                <a:solidFill>
                  <a:schemeClr val="dk1"/>
                </a:solidFill>
                <a:latin typeface="Century Gothic"/>
              </a:rPr>
              <a:t>Using these prompts, you can guide the LLM model in generating detailed and structured summaries, as demonstrated in the tabular format. Within minutes, the model captured essential information, including tags and prioritized reviews.  </a:t>
            </a:r>
          </a:p>
          <a:p>
            <a:r>
              <a:rPr lang="en-US" sz="1200" dirty="0">
                <a:solidFill>
                  <a:schemeClr val="dk1"/>
                </a:solidFill>
                <a:latin typeface="Century Gothic"/>
              </a:rPr>
              <a:t>Using different techniques, particularly ‘Chain-of-Thought’ prompting, resulted in more detailed and structured outputs, with clear summaries of the reviews. Although this method required multiple prompts, it allowed us to steer the conversation effectively and achieve the desired output.  </a:t>
            </a:r>
          </a:p>
          <a:p>
            <a:r>
              <a:rPr lang="en-US" sz="1200" dirty="0">
                <a:solidFill>
                  <a:schemeClr val="dk1"/>
                </a:solidFill>
                <a:latin typeface="Century Gothic"/>
              </a:rPr>
              <a:t>The platform generated diligent and precise responses that can be leveraged effectively for customer interactions.  </a:t>
            </a:r>
          </a:p>
          <a:p>
            <a:pPr marL="133350" indent="0">
              <a:buNone/>
            </a:pPr>
            <a:endParaRPr lang="en-US" sz="1200" dirty="0">
              <a:solidFill>
                <a:schemeClr val="dk1"/>
              </a:solidFill>
              <a:latin typeface="Century Gothic"/>
            </a:endParaRPr>
          </a:p>
          <a:p>
            <a:pPr marL="133350" indent="0">
              <a:buNone/>
            </a:pPr>
            <a:r>
              <a:rPr lang="en-US" sz="1400" b="1" dirty="0">
                <a:solidFill>
                  <a:schemeClr val="dk1"/>
                </a:solidFill>
                <a:latin typeface="Century Gothic"/>
                <a:sym typeface="Century Gothic"/>
              </a:rPr>
              <a:t>Conclusion</a:t>
            </a:r>
            <a:r>
              <a:rPr lang="en-US" sz="1400" dirty="0">
                <a:solidFill>
                  <a:schemeClr val="dk1"/>
                </a:solidFill>
                <a:latin typeface="Century Gothic"/>
                <a:ea typeface="Century Gothic"/>
                <a:cs typeface="Century Gothic"/>
                <a:sym typeface="Century Gothic"/>
              </a:rPr>
              <a:t>: </a:t>
            </a:r>
          </a:p>
          <a:p>
            <a:r>
              <a:rPr lang="en-US" sz="1200" dirty="0">
                <a:solidFill>
                  <a:schemeClr val="dk1"/>
                </a:solidFill>
                <a:latin typeface="Century Gothic"/>
              </a:rPr>
              <a:t>Applying different prompting techniques offers valuable insights into the performance of LLM/GenAI platforms. The generated summaries were both comprehensive and tailored to meet specific user requirements. The platforms demonstrated their efficiency by creating summaries in just a few seconds.</a:t>
            </a:r>
          </a:p>
          <a:p>
            <a:pPr marL="133350" indent="0">
              <a:buNone/>
            </a:pPr>
            <a:r>
              <a:rPr lang="en-US" sz="1200" dirty="0">
                <a:solidFill>
                  <a:schemeClr val="dk1"/>
                </a:solidFill>
                <a:latin typeface="Century Gothic"/>
              </a:rPr>
              <a:t>  </a:t>
            </a:r>
          </a:p>
          <a:p>
            <a:r>
              <a:rPr lang="en-US" sz="1200" dirty="0">
                <a:solidFill>
                  <a:schemeClr val="dk1"/>
                </a:solidFill>
                <a:latin typeface="Century Gothic"/>
              </a:rPr>
              <a:t>This raises an interesting observation: since multiple users are likely interacting with the same data, the LLM may have been trained to recognize patterns quickly. As the model continues to evolve through further training, its ability to understand prompts and deliver structured, high-quality outputs will improve even further</a:t>
            </a:r>
            <a:r>
              <a:rPr lang="en-US" dirty="0"/>
              <a:t>.</a:t>
            </a:r>
          </a:p>
          <a:p>
            <a:pPr marL="0" lvl="0" indent="0">
              <a:spcBef>
                <a:spcPts val="1000"/>
              </a:spcBef>
              <a:spcAft>
                <a:spcPts val="1000"/>
              </a:spcAft>
              <a:buNone/>
            </a:pPr>
            <a:br>
              <a:rPr lang="en-US" sz="1400" dirty="0"/>
            </a:br>
            <a:endParaRPr lang="en-US"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dirty="0">
              <a:solidFill>
                <a:schemeClr val="dk1"/>
              </a:solidFill>
              <a:latin typeface="Century Gothic"/>
              <a:ea typeface="Century Gothic"/>
              <a:cs typeface="Century Gothic"/>
              <a:sym typeface="Century Gothic"/>
            </a:endParaRPr>
          </a:p>
        </p:txBody>
      </p:sp>
      <p:sp>
        <p:nvSpPr>
          <p:cNvPr id="190" name="Google Shape;190;p41"/>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dirty="0">
              <a:solidFill>
                <a:srgbClr val="666666"/>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42"/>
          <p:cNvSpPr txBox="1">
            <a:spLocks noGrp="1"/>
          </p:cNvSpPr>
          <p:nvPr>
            <p:ph type="ctrTitle"/>
          </p:nvPr>
        </p:nvSpPr>
        <p:spPr>
          <a:xfrm>
            <a:off x="0" y="2820425"/>
            <a:ext cx="9144000" cy="581700"/>
          </a:xfrm>
          <a:prstGeom prst="rect">
            <a:avLst/>
          </a:prstGeom>
          <a:solidFill>
            <a:schemeClr val="lt2"/>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dirty="0">
                <a:solidFill>
                  <a:schemeClr val="lt1"/>
                </a:solidFill>
                <a:latin typeface="Century Gothic"/>
                <a:ea typeface="Century Gothic"/>
                <a:cs typeface="Century Gothic"/>
                <a:sym typeface="Century Gothic"/>
              </a:rPr>
              <a:t>APPENDIX</a:t>
            </a:r>
            <a:endParaRPr sz="3300" dirty="0">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Dataset overview</a:t>
            </a:r>
            <a:endParaRPr dirty="0">
              <a:solidFill>
                <a:schemeClr val="lt2"/>
              </a:solidFill>
              <a:latin typeface="Century Gothic"/>
              <a:ea typeface="Century Gothic"/>
              <a:cs typeface="Century Gothic"/>
              <a:sym typeface="Century Gothic"/>
            </a:endParaRPr>
          </a:p>
        </p:txBody>
      </p:sp>
      <p:sp>
        <p:nvSpPr>
          <p:cNvPr id="201" name="Google Shape;201;p43"/>
          <p:cNvSpPr txBox="1">
            <a:spLocks noGrp="1"/>
          </p:cNvSpPr>
          <p:nvPr>
            <p:ph type="body" idx="1"/>
          </p:nvPr>
        </p:nvSpPr>
        <p:spPr>
          <a:xfrm>
            <a:off x="147950" y="625136"/>
            <a:ext cx="8996050" cy="909220"/>
          </a:xfrm>
          <a:prstGeom prst="rect">
            <a:avLst/>
          </a:prstGeom>
          <a:noFill/>
          <a:ln>
            <a:noFill/>
          </a:ln>
        </p:spPr>
        <p:txBody>
          <a:bodyPr spcFirstLastPara="1" wrap="square" lIns="91425" tIns="91425" rIns="91425" bIns="91425" anchor="t" anchorCtr="0">
            <a:noAutofit/>
          </a:bodyPr>
          <a:lstStyle/>
          <a:p>
            <a:pPr marL="133350" indent="0">
              <a:buNone/>
            </a:pPr>
            <a:r>
              <a:rPr lang="en-US" sz="1100" b="1" dirty="0">
                <a:solidFill>
                  <a:schemeClr val="dk1"/>
                </a:solidFill>
                <a:latin typeface="Century Gothic"/>
              </a:rPr>
              <a:t>Data Description: </a:t>
            </a:r>
            <a:r>
              <a:rPr lang="en-US" sz="1050" dirty="0">
                <a:solidFill>
                  <a:schemeClr val="dk1"/>
                </a:solidFill>
                <a:latin typeface="Century Gothic"/>
              </a:rPr>
              <a:t>The data contains the customers' review details. The detailed data dictionary is given below.</a:t>
            </a:r>
          </a:p>
          <a:p>
            <a:pPr marL="133350" indent="0">
              <a:buNone/>
            </a:pPr>
            <a:r>
              <a:rPr lang="en-US" sz="1100" b="1" dirty="0">
                <a:solidFill>
                  <a:schemeClr val="dk1"/>
                </a:solidFill>
                <a:latin typeface="Century Gothic"/>
              </a:rPr>
              <a:t>Data Dictionary:</a:t>
            </a:r>
          </a:p>
          <a:p>
            <a:pPr>
              <a:buFont typeface="Arial" panose="020B0604020202020204" pitchFamily="34" charset="0"/>
              <a:buChar char="•"/>
            </a:pPr>
            <a:r>
              <a:rPr lang="en-US" sz="1050" dirty="0">
                <a:solidFill>
                  <a:schemeClr val="dk1"/>
                </a:solidFill>
                <a:latin typeface="Century Gothic"/>
              </a:rPr>
              <a:t>Customer_ID: the unique identifier of each customer</a:t>
            </a:r>
          </a:p>
          <a:p>
            <a:pPr>
              <a:buFont typeface="Arial" panose="020B0604020202020204" pitchFamily="34" charset="0"/>
              <a:buChar char="•"/>
            </a:pPr>
            <a:r>
              <a:rPr lang="en-US" sz="1050" dirty="0">
                <a:solidFill>
                  <a:schemeClr val="dk1"/>
                </a:solidFill>
                <a:latin typeface="Century Gothic"/>
              </a:rPr>
              <a:t>Review: Reviews submitted by the customers regarding their restaurant experience</a:t>
            </a:r>
          </a:p>
          <a:p>
            <a:pPr marL="457200" lvl="0" indent="-317500" algn="l" rtl="0">
              <a:lnSpc>
                <a:spcPct val="115000"/>
              </a:lnSpc>
              <a:spcBef>
                <a:spcPts val="1000"/>
              </a:spcBef>
              <a:spcAft>
                <a:spcPts val="1000"/>
              </a:spcAft>
              <a:buClr>
                <a:srgbClr val="000000"/>
              </a:buClr>
              <a:buSzPts val="1400"/>
              <a:buFont typeface="Century Gothic"/>
              <a:buChar char="●"/>
            </a:pPr>
            <a:endParaRPr sz="1400" dirty="0">
              <a:solidFill>
                <a:schemeClr val="dk1"/>
              </a:solidFill>
              <a:latin typeface="Century Gothic"/>
              <a:ea typeface="Century Gothic"/>
              <a:cs typeface="Century Gothic"/>
              <a:sym typeface="Century Gothic"/>
            </a:endParaRPr>
          </a:p>
        </p:txBody>
      </p:sp>
      <p:graphicFrame>
        <p:nvGraphicFramePr>
          <p:cNvPr id="2" name="Table 1">
            <a:extLst>
              <a:ext uri="{FF2B5EF4-FFF2-40B4-BE49-F238E27FC236}">
                <a16:creationId xmlns:a16="http://schemas.microsoft.com/office/drawing/2014/main" id="{E1015C39-3A30-E84D-B2E2-3B983701574D}"/>
              </a:ext>
            </a:extLst>
          </p:cNvPr>
          <p:cNvGraphicFramePr>
            <a:graphicFrameLocks noGrp="1"/>
          </p:cNvGraphicFramePr>
          <p:nvPr>
            <p:extLst>
              <p:ext uri="{D42A27DB-BD31-4B8C-83A1-F6EECF244321}">
                <p14:modId xmlns:p14="http://schemas.microsoft.com/office/powerpoint/2010/main" val="2421638960"/>
              </p:ext>
            </p:extLst>
          </p:nvPr>
        </p:nvGraphicFramePr>
        <p:xfrm>
          <a:off x="147950" y="1517077"/>
          <a:ext cx="8736856" cy="3626423"/>
        </p:xfrm>
        <a:graphic>
          <a:graphicData uri="http://schemas.openxmlformats.org/drawingml/2006/table">
            <a:tbl>
              <a:tblPr>
                <a:tableStyleId>{08FB837D-C827-4EFA-A057-4D05807E0F7C}</a:tableStyleId>
              </a:tblPr>
              <a:tblGrid>
                <a:gridCol w="811976">
                  <a:extLst>
                    <a:ext uri="{9D8B030D-6E8A-4147-A177-3AD203B41FA5}">
                      <a16:colId xmlns:a16="http://schemas.microsoft.com/office/drawing/2014/main" val="1937791810"/>
                    </a:ext>
                  </a:extLst>
                </a:gridCol>
                <a:gridCol w="7924880">
                  <a:extLst>
                    <a:ext uri="{9D8B030D-6E8A-4147-A177-3AD203B41FA5}">
                      <a16:colId xmlns:a16="http://schemas.microsoft.com/office/drawing/2014/main" val="1071695745"/>
                    </a:ext>
                  </a:extLst>
                </a:gridCol>
              </a:tblGrid>
              <a:tr h="152739">
                <a:tc>
                  <a:txBody>
                    <a:bodyPr/>
                    <a:lstStyle/>
                    <a:p>
                      <a:pPr algn="ctr" fontAlgn="ctr"/>
                      <a:r>
                        <a:rPr lang="en-US" sz="900" b="1" u="none" strike="noStrike" dirty="0">
                          <a:effectLst/>
                        </a:rPr>
                        <a:t>Customr_ID</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ctr" fontAlgn="ctr"/>
                      <a:r>
                        <a:rPr lang="en-US" sz="900" b="1" u="none" strike="noStrike" dirty="0">
                          <a:effectLst/>
                        </a:rPr>
                        <a:t>Review</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extLst>
                  <a:ext uri="{0D108BD9-81ED-4DB2-BD59-A6C34878D82A}">
                    <a16:rowId xmlns:a16="http://schemas.microsoft.com/office/drawing/2014/main" val="1065361574"/>
                  </a:ext>
                </a:extLst>
              </a:tr>
              <a:tr h="305478">
                <a:tc>
                  <a:txBody>
                    <a:bodyPr/>
                    <a:lstStyle/>
                    <a:p>
                      <a:pPr algn="ctr" fontAlgn="ctr"/>
                      <a:r>
                        <a:rPr lang="en-US" sz="900" b="1" u="none" strike="noStrike" dirty="0">
                          <a:effectLst/>
                        </a:rPr>
                        <a:t>Cust2024-001</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l" fontAlgn="b"/>
                      <a:r>
                        <a:rPr lang="en-US" sz="900" b="1" u="none" strike="noStrike" dirty="0">
                          <a:effectLst/>
                        </a:rPr>
                        <a:t>The food at this restaurant is absolutely amazing! The flavors are rich and vibrant, and every dish is a culinary delight. The tender, melt-in-your-mouth steak is perfectly seasoned and accompanied by a velvety red wine reduction. The dessert selection is a work of art, with the creamy tiramisu stealing the show.</a:t>
                      </a:r>
                      <a:endParaRPr lang="en-US" sz="900" b="1" i="0" u="none" strike="noStrike" dirty="0">
                        <a:solidFill>
                          <a:srgbClr val="000000"/>
                        </a:solidFill>
                        <a:effectLst/>
                        <a:latin typeface="Calibri" panose="020F0502020204030204" pitchFamily="34" charset="0"/>
                      </a:endParaRPr>
                    </a:p>
                  </a:txBody>
                  <a:tcPr marL="7427" marR="7427" marT="7427" marB="0" anchor="b">
                    <a:solidFill>
                      <a:schemeClr val="accent6">
                        <a:lumMod val="20000"/>
                        <a:lumOff val="80000"/>
                      </a:schemeClr>
                    </a:solidFill>
                  </a:tcPr>
                </a:tc>
                <a:extLst>
                  <a:ext uri="{0D108BD9-81ED-4DB2-BD59-A6C34878D82A}">
                    <a16:rowId xmlns:a16="http://schemas.microsoft.com/office/drawing/2014/main" val="2781755689"/>
                  </a:ext>
                </a:extLst>
              </a:tr>
              <a:tr h="305478">
                <a:tc>
                  <a:txBody>
                    <a:bodyPr/>
                    <a:lstStyle/>
                    <a:p>
                      <a:pPr algn="ctr" fontAlgn="ctr"/>
                      <a:r>
                        <a:rPr lang="en-US" sz="900" b="1" u="none" strike="noStrike" dirty="0">
                          <a:effectLst/>
                        </a:rPr>
                        <a:t>Cust2024-002</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l" fontAlgn="b"/>
                      <a:r>
                        <a:rPr lang="en-US" sz="900" b="1" u="none" strike="noStrike" dirty="0">
                          <a:effectLst/>
                        </a:rPr>
                        <a:t>I had a mixed experience at this restaurant. While some dishes were enjoyable, others fell short of expectations. The appetizer of crispy calamari was perfectly cooked and flavorful, but the main course of chicken piccata lacked seasoning and was slightly overcooked.</a:t>
                      </a:r>
                      <a:endParaRPr lang="en-US" sz="900" b="1" i="0" u="none" strike="noStrike" dirty="0">
                        <a:solidFill>
                          <a:srgbClr val="000000"/>
                        </a:solidFill>
                        <a:effectLst/>
                        <a:latin typeface="Calibri" panose="020F0502020204030204" pitchFamily="34" charset="0"/>
                      </a:endParaRPr>
                    </a:p>
                  </a:txBody>
                  <a:tcPr marL="7427" marR="7427" marT="7427" marB="0" anchor="b">
                    <a:solidFill>
                      <a:schemeClr val="accent6">
                        <a:lumMod val="20000"/>
                        <a:lumOff val="80000"/>
                      </a:schemeClr>
                    </a:solidFill>
                  </a:tcPr>
                </a:tc>
                <a:extLst>
                  <a:ext uri="{0D108BD9-81ED-4DB2-BD59-A6C34878D82A}">
                    <a16:rowId xmlns:a16="http://schemas.microsoft.com/office/drawing/2014/main" val="3114193582"/>
                  </a:ext>
                </a:extLst>
              </a:tr>
              <a:tr h="458216">
                <a:tc>
                  <a:txBody>
                    <a:bodyPr/>
                    <a:lstStyle/>
                    <a:p>
                      <a:pPr algn="ctr" fontAlgn="ctr"/>
                      <a:r>
                        <a:rPr lang="en-US" sz="900" b="1" u="none" strike="noStrike" dirty="0">
                          <a:effectLst/>
                        </a:rPr>
                        <a:t>Cust2024-003</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l" fontAlgn="b"/>
                      <a:r>
                        <a:rPr lang="en-US" sz="900" b="1" u="none" strike="noStrike" dirty="0">
                          <a:effectLst/>
                        </a:rPr>
                        <a:t>I had a fantastic experience dining at this restaurant. The food was exquisite, with each dish beautifully presented. The appetizer of fresh oysters was a taste of the ocean, while the main course of seared scallops over a bed of saffron-infused risotto was a symphony of flavors. The attention to detail in every aspect of the meal was truly commendable.</a:t>
                      </a:r>
                      <a:endParaRPr lang="en-US" sz="900" b="1" i="0" u="none" strike="noStrike" dirty="0">
                        <a:solidFill>
                          <a:srgbClr val="000000"/>
                        </a:solidFill>
                        <a:effectLst/>
                        <a:latin typeface="Calibri" panose="020F0502020204030204" pitchFamily="34" charset="0"/>
                      </a:endParaRPr>
                    </a:p>
                  </a:txBody>
                  <a:tcPr marL="7427" marR="7427" marT="7427" marB="0" anchor="b">
                    <a:solidFill>
                      <a:schemeClr val="accent6">
                        <a:lumMod val="20000"/>
                        <a:lumOff val="80000"/>
                      </a:schemeClr>
                    </a:solidFill>
                  </a:tcPr>
                </a:tc>
                <a:extLst>
                  <a:ext uri="{0D108BD9-81ED-4DB2-BD59-A6C34878D82A}">
                    <a16:rowId xmlns:a16="http://schemas.microsoft.com/office/drawing/2014/main" val="1545699507"/>
                  </a:ext>
                </a:extLst>
              </a:tr>
              <a:tr h="305478">
                <a:tc>
                  <a:txBody>
                    <a:bodyPr/>
                    <a:lstStyle/>
                    <a:p>
                      <a:pPr algn="ctr" fontAlgn="ctr"/>
                      <a:r>
                        <a:rPr lang="en-US" sz="900" b="1" u="none" strike="noStrike" dirty="0">
                          <a:effectLst/>
                        </a:rPr>
                        <a:t>Cust2024-004</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l" fontAlgn="b"/>
                      <a:r>
                        <a:rPr lang="en-US" sz="900" b="1" u="none" strike="noStrike" dirty="0">
                          <a:effectLst/>
                        </a:rPr>
                        <a:t>I had a negative experience at this restaurant. The food was below average, and the flavors were bland. The appetizer of bruschetta lacked seasoning, and the main course of pasta was overcooked and lacked flavor.</a:t>
                      </a:r>
                      <a:endParaRPr lang="en-US" sz="900" b="1" i="0" u="none" strike="noStrike" dirty="0">
                        <a:solidFill>
                          <a:srgbClr val="000000"/>
                        </a:solidFill>
                        <a:effectLst/>
                        <a:latin typeface="Calibri" panose="020F0502020204030204" pitchFamily="34" charset="0"/>
                      </a:endParaRPr>
                    </a:p>
                  </a:txBody>
                  <a:tcPr marL="7427" marR="7427" marT="7427" marB="0" anchor="b">
                    <a:solidFill>
                      <a:schemeClr val="accent6">
                        <a:lumMod val="20000"/>
                        <a:lumOff val="80000"/>
                      </a:schemeClr>
                    </a:solidFill>
                  </a:tcPr>
                </a:tc>
                <a:extLst>
                  <a:ext uri="{0D108BD9-81ED-4DB2-BD59-A6C34878D82A}">
                    <a16:rowId xmlns:a16="http://schemas.microsoft.com/office/drawing/2014/main" val="1502692776"/>
                  </a:ext>
                </a:extLst>
              </a:tr>
              <a:tr h="458216">
                <a:tc>
                  <a:txBody>
                    <a:bodyPr/>
                    <a:lstStyle/>
                    <a:p>
                      <a:pPr algn="ctr" fontAlgn="ctr"/>
                      <a:r>
                        <a:rPr lang="en-US" sz="900" b="1" u="none" strike="noStrike" dirty="0">
                          <a:effectLst/>
                        </a:rPr>
                        <a:t>Cust2024-005</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l" fontAlgn="b"/>
                      <a:r>
                        <a:rPr lang="en-US" sz="900" b="1" u="none" strike="noStrike" dirty="0">
                          <a:effectLst/>
                        </a:rPr>
                        <a:t>This restaurant exceeded my expectations. The food was outstanding, and the portion sizes were generous. The appetizer platter was a feast for the senses, featuring a colorful array of bruschetta, crispy calamari, and creamy spinach dip. The main course of grilled salmon with lemon butter sauce was cooked to perfection, flaky and moist. Save room for dessert—the chocolate lava cake is an indulgent treat.</a:t>
                      </a:r>
                      <a:endParaRPr lang="en-US" sz="900" b="1" i="0" u="none" strike="noStrike" dirty="0">
                        <a:solidFill>
                          <a:srgbClr val="000000"/>
                        </a:solidFill>
                        <a:effectLst/>
                        <a:latin typeface="Calibri" panose="020F0502020204030204" pitchFamily="34" charset="0"/>
                      </a:endParaRPr>
                    </a:p>
                  </a:txBody>
                  <a:tcPr marL="7427" marR="7427" marT="7427" marB="0" anchor="b">
                    <a:solidFill>
                      <a:schemeClr val="accent6">
                        <a:lumMod val="20000"/>
                        <a:lumOff val="80000"/>
                      </a:schemeClr>
                    </a:solidFill>
                  </a:tcPr>
                </a:tc>
                <a:extLst>
                  <a:ext uri="{0D108BD9-81ED-4DB2-BD59-A6C34878D82A}">
                    <a16:rowId xmlns:a16="http://schemas.microsoft.com/office/drawing/2014/main" val="1544736136"/>
                  </a:ext>
                </a:extLst>
              </a:tr>
              <a:tr h="152739">
                <a:tc>
                  <a:txBody>
                    <a:bodyPr/>
                    <a:lstStyle/>
                    <a:p>
                      <a:pPr algn="ctr" fontAlgn="ctr"/>
                      <a:r>
                        <a:rPr lang="en-US" sz="900" b="1" u="none" strike="noStrike" dirty="0">
                          <a:effectLst/>
                        </a:rPr>
                        <a:t>Cust2024-006</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l" fontAlgn="b"/>
                      <a:r>
                        <a:rPr lang="en-US" sz="900" b="1" u="none" strike="noStrike" dirty="0">
                          <a:effectLst/>
                        </a:rPr>
                        <a:t>Not Applicable, what is this iudbidsub</a:t>
                      </a:r>
                      <a:endParaRPr lang="en-US" sz="900" b="1" i="0" u="none" strike="noStrike" dirty="0">
                        <a:solidFill>
                          <a:srgbClr val="000000"/>
                        </a:solidFill>
                        <a:effectLst/>
                        <a:latin typeface="Calibri" panose="020F0502020204030204" pitchFamily="34" charset="0"/>
                      </a:endParaRPr>
                    </a:p>
                  </a:txBody>
                  <a:tcPr marL="7427" marR="7427" marT="7427" marB="0" anchor="b">
                    <a:solidFill>
                      <a:schemeClr val="accent6">
                        <a:lumMod val="20000"/>
                        <a:lumOff val="80000"/>
                      </a:schemeClr>
                    </a:solidFill>
                  </a:tcPr>
                </a:tc>
                <a:extLst>
                  <a:ext uri="{0D108BD9-81ED-4DB2-BD59-A6C34878D82A}">
                    <a16:rowId xmlns:a16="http://schemas.microsoft.com/office/drawing/2014/main" val="3603967750"/>
                  </a:ext>
                </a:extLst>
              </a:tr>
              <a:tr h="458216">
                <a:tc>
                  <a:txBody>
                    <a:bodyPr/>
                    <a:lstStyle/>
                    <a:p>
                      <a:pPr algn="ctr" fontAlgn="ctr"/>
                      <a:r>
                        <a:rPr lang="en-US" sz="900" b="1" u="none" strike="noStrike" dirty="0">
                          <a:effectLst/>
                        </a:rPr>
                        <a:t>Cust2024-007</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l" fontAlgn="b"/>
                      <a:r>
                        <a:rPr lang="en-US" sz="900" b="1" u="none" strike="noStrike" dirty="0">
                          <a:effectLst/>
                        </a:rPr>
                        <a:t>I am a regular customer at this restaurant, and I am never disappointed. The food is consistently delicious. The signature dish, a succulent rack of lamb, is always tender and flavorful. The side of truffle mashed potatoes is a heavenly accompaniment. The impeccable service and cozy ambiance make dining here a memorable experience.</a:t>
                      </a:r>
                      <a:endParaRPr lang="en-US" sz="900" b="1" i="0" u="none" strike="noStrike" dirty="0">
                        <a:solidFill>
                          <a:srgbClr val="000000"/>
                        </a:solidFill>
                        <a:effectLst/>
                        <a:latin typeface="Calibri" panose="020F0502020204030204" pitchFamily="34" charset="0"/>
                      </a:endParaRPr>
                    </a:p>
                  </a:txBody>
                  <a:tcPr marL="7427" marR="7427" marT="7427" marB="0" anchor="b">
                    <a:solidFill>
                      <a:schemeClr val="accent6">
                        <a:lumMod val="20000"/>
                        <a:lumOff val="80000"/>
                      </a:schemeClr>
                    </a:solidFill>
                  </a:tcPr>
                </a:tc>
                <a:extLst>
                  <a:ext uri="{0D108BD9-81ED-4DB2-BD59-A6C34878D82A}">
                    <a16:rowId xmlns:a16="http://schemas.microsoft.com/office/drawing/2014/main" val="3538586786"/>
                  </a:ext>
                </a:extLst>
              </a:tr>
              <a:tr h="305478">
                <a:tc>
                  <a:txBody>
                    <a:bodyPr/>
                    <a:lstStyle/>
                    <a:p>
                      <a:pPr algn="ctr" fontAlgn="ctr"/>
                      <a:r>
                        <a:rPr lang="en-US" sz="900" b="1" u="none" strike="noStrike" dirty="0">
                          <a:effectLst/>
                        </a:rPr>
                        <a:t>Cust2024-008</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l" fontAlgn="b"/>
                      <a:r>
                        <a:rPr lang="en-US" sz="900" b="1" u="none" strike="noStrike" dirty="0">
                          <a:effectLst/>
                        </a:rPr>
                        <a:t>The restaurant has a decent menu with a variety of options. The food was satisfactory, but nothing stood out as exceptional. The Caesar salad was fresh and well-dressed, but the pasta dish lacked depth of flavor.</a:t>
                      </a:r>
                      <a:endParaRPr lang="en-US" sz="900" b="1" i="0" u="none" strike="noStrike" dirty="0">
                        <a:solidFill>
                          <a:srgbClr val="000000"/>
                        </a:solidFill>
                        <a:effectLst/>
                        <a:latin typeface="Calibri" panose="020F0502020204030204" pitchFamily="34" charset="0"/>
                      </a:endParaRPr>
                    </a:p>
                  </a:txBody>
                  <a:tcPr marL="7427" marR="7427" marT="7427" marB="0" anchor="b">
                    <a:solidFill>
                      <a:schemeClr val="accent6">
                        <a:lumMod val="20000"/>
                        <a:lumOff val="80000"/>
                      </a:schemeClr>
                    </a:solidFill>
                  </a:tcPr>
                </a:tc>
                <a:extLst>
                  <a:ext uri="{0D108BD9-81ED-4DB2-BD59-A6C34878D82A}">
                    <a16:rowId xmlns:a16="http://schemas.microsoft.com/office/drawing/2014/main" val="1554235964"/>
                  </a:ext>
                </a:extLst>
              </a:tr>
              <a:tr h="305478">
                <a:tc>
                  <a:txBody>
                    <a:bodyPr/>
                    <a:lstStyle/>
                    <a:p>
                      <a:pPr algn="ctr" fontAlgn="ctr"/>
                      <a:r>
                        <a:rPr lang="en-US" sz="900" b="1" u="none" strike="noStrike" dirty="0">
                          <a:effectLst/>
                        </a:rPr>
                        <a:t>Cust2024-009</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l" fontAlgn="b"/>
                      <a:r>
                        <a:rPr lang="en-US" sz="900" b="1" u="none" strike="noStrike" dirty="0">
                          <a:effectLst/>
                        </a:rPr>
                        <a:t>The service was poor, with rude and inattentive staff. The atmosphere was noisy and crowded. The food was average at best, with the steak being overcooked and the salad lacking freshness.</a:t>
                      </a:r>
                      <a:endParaRPr lang="en-US" sz="900" b="1" i="0" u="none" strike="noStrike" dirty="0">
                        <a:solidFill>
                          <a:srgbClr val="000000"/>
                        </a:solidFill>
                        <a:effectLst/>
                        <a:latin typeface="Calibri" panose="020F0502020204030204" pitchFamily="34" charset="0"/>
                      </a:endParaRPr>
                    </a:p>
                  </a:txBody>
                  <a:tcPr marL="7427" marR="7427" marT="7427" marB="0" anchor="b">
                    <a:solidFill>
                      <a:schemeClr val="accent6">
                        <a:lumMod val="20000"/>
                        <a:lumOff val="80000"/>
                      </a:schemeClr>
                    </a:solidFill>
                  </a:tcPr>
                </a:tc>
                <a:extLst>
                  <a:ext uri="{0D108BD9-81ED-4DB2-BD59-A6C34878D82A}">
                    <a16:rowId xmlns:a16="http://schemas.microsoft.com/office/drawing/2014/main" val="3873057366"/>
                  </a:ext>
                </a:extLst>
              </a:tr>
              <a:tr h="305478">
                <a:tc>
                  <a:txBody>
                    <a:bodyPr/>
                    <a:lstStyle/>
                    <a:p>
                      <a:pPr algn="ctr" fontAlgn="ctr"/>
                      <a:r>
                        <a:rPr lang="en-US" sz="900" b="1" u="none" strike="noStrike" dirty="0">
                          <a:effectLst/>
                        </a:rPr>
                        <a:t>Cust2024-010</a:t>
                      </a:r>
                      <a:endParaRPr lang="en-US" sz="900" b="1" i="0" u="none" strike="noStrike" dirty="0">
                        <a:solidFill>
                          <a:srgbClr val="000000"/>
                        </a:solidFill>
                        <a:effectLst/>
                        <a:latin typeface="Calibri" panose="020F0502020204030204" pitchFamily="34" charset="0"/>
                      </a:endParaRPr>
                    </a:p>
                  </a:txBody>
                  <a:tcPr marL="7427" marR="7427" marT="7427" marB="0" anchor="ctr">
                    <a:solidFill>
                      <a:schemeClr val="accent6">
                        <a:lumMod val="20000"/>
                        <a:lumOff val="80000"/>
                      </a:schemeClr>
                    </a:solidFill>
                  </a:tcPr>
                </a:tc>
                <a:tc>
                  <a:txBody>
                    <a:bodyPr/>
                    <a:lstStyle/>
                    <a:p>
                      <a:pPr algn="l" fontAlgn="b"/>
                      <a:r>
                        <a:rPr lang="en-US" sz="900" b="1" u="none" strike="noStrike" dirty="0">
                          <a:effectLst/>
                        </a:rPr>
                        <a:t>The food was disappointing, and the service was slow and inattentive. The appetizer of stuffed mushrooms lacked flavor, and the main course of chicken marsala was overcooked and dry.</a:t>
                      </a:r>
                      <a:endParaRPr lang="en-US" sz="900" b="1" i="0" u="none" strike="noStrike" dirty="0">
                        <a:solidFill>
                          <a:srgbClr val="000000"/>
                        </a:solidFill>
                        <a:effectLst/>
                        <a:latin typeface="Calibri" panose="020F0502020204030204" pitchFamily="34" charset="0"/>
                      </a:endParaRPr>
                    </a:p>
                  </a:txBody>
                  <a:tcPr marL="7427" marR="7427" marT="7427" marB="0" anchor="b">
                    <a:solidFill>
                      <a:schemeClr val="accent6">
                        <a:lumMod val="20000"/>
                        <a:lumOff val="80000"/>
                      </a:schemeClr>
                    </a:solidFill>
                  </a:tcPr>
                </a:tc>
                <a:extLst>
                  <a:ext uri="{0D108BD9-81ED-4DB2-BD59-A6C34878D82A}">
                    <a16:rowId xmlns:a16="http://schemas.microsoft.com/office/drawing/2014/main" val="55531882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Slide Header</a:t>
            </a:r>
            <a:endParaRPr dirty="0">
              <a:solidFill>
                <a:schemeClr val="lt2"/>
              </a:solidFill>
              <a:latin typeface="Century Gothic"/>
              <a:ea typeface="Century Gothic"/>
              <a:cs typeface="Century Gothic"/>
              <a:sym typeface="Century Gothic"/>
            </a:endParaRPr>
          </a:p>
        </p:txBody>
      </p:sp>
      <p:sp>
        <p:nvSpPr>
          <p:cNvPr id="207" name="Google Shape;207;p44"/>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any other pointers (if needed)</a:t>
            </a:r>
            <a:endParaRPr sz="1400" dirty="0">
              <a:solidFill>
                <a:schemeClr val="dk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dirty="0"/>
          </a:p>
        </p:txBody>
      </p:sp>
      <p:sp>
        <p:nvSpPr>
          <p:cNvPr id="215" name="Google Shape;215;p4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17</a:t>
            </a:fld>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10499</TotalTime>
  <Words>2564</Words>
  <Application>Microsoft Macintosh PowerPoint</Application>
  <PresentationFormat>On-screen Show (16:9)</PresentationFormat>
  <Paragraphs>365</Paragraphs>
  <Slides>17</Slides>
  <Notes>17</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17</vt:i4>
      </vt:variant>
    </vt:vector>
  </HeadingPairs>
  <TitlesOfParts>
    <vt:vector size="28" baseType="lpstr">
      <vt:lpstr>Century Gothic</vt:lpstr>
      <vt:lpstr>Times New Roman</vt:lpstr>
      <vt:lpstr>Nunito ExtraBold</vt:lpstr>
      <vt:lpstr>Nunito</vt:lpstr>
      <vt:lpstr>Nunito SemiBold</vt:lpstr>
      <vt:lpstr>Calibri</vt:lpstr>
      <vt:lpstr>Arial</vt:lpstr>
      <vt:lpstr>Simple Light</vt:lpstr>
      <vt:lpstr>Just Logo</vt:lpstr>
      <vt:lpstr>Just Logo</vt:lpstr>
      <vt:lpstr>Document</vt:lpstr>
      <vt:lpstr>GenAI-powered Review Categorization</vt:lpstr>
      <vt:lpstr>Contents / Agenda</vt:lpstr>
      <vt:lpstr>Business Context/Problem Overview and Solution Approach</vt:lpstr>
      <vt:lpstr>Using Zero-Short Prompt and the structure of the Prompt</vt:lpstr>
      <vt:lpstr>Prompt Output</vt:lpstr>
      <vt:lpstr>Using One-shot Prompting and the structure of the Prompt</vt:lpstr>
      <vt:lpstr>One-shot prompt</vt:lpstr>
      <vt:lpstr>Using Chain-of-Thought Prompting and the structure of the Prompt</vt:lpstr>
      <vt:lpstr>Using Chain-of-Thought Prompting and the structure of the Prompt (Cont)</vt:lpstr>
      <vt:lpstr>Using Chain-of-Thought Prompting and the structure of the Prompt (Cont)</vt:lpstr>
      <vt:lpstr>Prompt 3 output</vt:lpstr>
      <vt:lpstr>Outcome of different prompting techniques</vt:lpstr>
      <vt:lpstr>Observations/Insights and conclusions</vt:lpstr>
      <vt:lpstr>APPENDIX</vt:lpstr>
      <vt:lpstr>Dataset overview</vt:lpstr>
      <vt:lpstr>Slide Header</vt:lpstr>
      <vt:lpstr>PowerPoint Presentation</vt:lpstr>
    </vt:vector>
  </TitlesOfParts>
  <LinksUpToDate>false</LinksUpToDate>
  <SharedDoc>false</SharedDoc>
  <HyperlinksChanged>false</HyperlinksChanged>
  <AppVersion>16.0013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Microsoft Office User</cp:lastModifiedBy>
  <cp:revision>92</cp:revision>
  <dcterms:modified xsi:type="dcterms:W3CDTF">2024-12-16T02:57:59Z</dcterms:modified>
</cp:coreProperties>
</file>